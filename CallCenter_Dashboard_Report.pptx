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Total Calls by Month</a:t>
            </a:r>
          </a:p>
        </c:rich>
      </c:tx>
      <c:layout/>
      <c:overlay val="0"/>
    </c:title>
    <c:autoTitleDeleted val="0"/>
    <c:plotArea>
      <c:layout/>
      <c:barChart>
        <c:barDir val="col"/>
        <c:grouping val="clustered"/>
        <c:varyColors val="0"/>
        <c:ser>
          <c:idx val="0"/>
          <c:order val="0"/>
          <c:tx>
            <c:strRef>
              <c:f>Sheet1!$B$1</c:f>
              <c:strCache>
                <c:ptCount val="1"/>
                <c:pt idx="0">
                  <c:v>Total Calls</c:v>
                </c:pt>
              </c:strCache>
            </c:strRef>
          </c:tx>
          <c:spPr>
            <a:solidFill>
              <a:srgbClr val="1A7FA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January</c:v>
                  </c:pt>
                  <c:pt idx="1">
                    <c:v>February</c:v>
                  </c:pt>
                  <c:pt idx="2">
                    <c:v>March</c:v>
                  </c:pt>
                </c:lvl>
              </c:multiLvlStrCache>
            </c:multiLvlStrRef>
          </c:cat>
          <c:val>
            <c:numRef>
              <c:f>Sheet1!$B$2:$B$4</c:f>
              <c:numCache>
                <c:formatCode>General</c:formatCode>
                <c:ptCount val="3"/>
                <c:pt idx="0">
                  <c:v>1772</c:v>
                </c:pt>
                <c:pt idx="1">
                  <c:v>1612</c:v>
                </c:pt>
                <c:pt idx="2">
                  <c:v>1616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Answered vs Rejected</a:t>
            </a:r>
          </a:p>
        </c:rich>
      </c:tx>
      <c:layout/>
      <c:overlay val="0"/>
    </c:title>
    <c:autoTitleDeleted val="0"/>
    <c:plotArea>
      <c:layout/>
      <c:pie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1A7FA1"/>
              </a:solidFill>
              <a:effectLst/>
            </c:spPr>
          </c:dPt>
          <c:dPt>
            <c:idx val="1"/>
            <c:bubble3D val="0"/>
            <c:spPr>
              <a:solidFill>
                <a:srgbClr val="E74C3C"/>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Answered</c:v>
                </c:pt>
                <c:pt idx="1">
                  <c:v>Rejected</c:v>
                </c:pt>
              </c:strCache>
            </c:strRef>
          </c:cat>
          <c:val>
            <c:numRef>
              <c:f>Sheet1!$B$2:$B$3</c:f>
              <c:numCache>
                <c:ptCount val="2"/>
                <c:pt idx="0">
                  <c:v>4054</c:v>
                </c:pt>
                <c:pt idx="1">
                  <c:v>946</c:v>
                </c:pt>
              </c:numCache>
            </c:numRef>
          </c:val>
        </c:ser>
        <c:firstSliceAng val="0"/>
      </c:pie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Resolution Rate</a:t>
            </a:r>
          </a:p>
        </c:rich>
      </c:tx>
      <c:layout/>
      <c:overlay val="0"/>
    </c:title>
    <c:autoTitleDeleted val="0"/>
    <c:plotArea>
      <c:layout/>
      <c:doughnutChart>
        <c:varyColors val="1"/>
        <c:ser>
          <c:idx val="0"/>
          <c:order val="0"/>
          <c:tx>
            <c:strRef>
              <c:f>Sheet1!$B$1</c:f>
              <c:strCache>
                <c:ptCount val="1"/>
                <c:pt idx="0">
                  <c:v>Resolution</c:v>
                </c:pt>
              </c:strCache>
            </c:strRef>
          </c:tx>
          <c:spPr>
            <a:solidFill>
              <a:schemeClr val="accent1"/>
            </a:solidFill>
            <a:ln w="9525" cap="flat">
              <a:solidFill>
                <a:srgbClr val="F9F9F9"/>
              </a:solidFill>
              <a:prstDash val="solid"/>
              <a:round/>
            </a:ln>
            <a:effectLst/>
          </c:spPr>
          <c:dPt>
            <c:idx val="0"/>
            <c:bubble3D val="0"/>
            <c:spPr>
              <a:solidFill>
                <a:srgbClr val="27AE60"/>
              </a:solidFill>
              <a:effectLst/>
            </c:spPr>
          </c:dPt>
          <c:dPt>
            <c:idx val="1"/>
            <c:bubble3D val="0"/>
            <c:spPr>
              <a:solidFill>
                <a:srgbClr val="E74C3C"/>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Resolved</c:v>
                </c:pt>
                <c:pt idx="1">
                  <c:v>Not Resolved</c:v>
                </c:pt>
              </c:strCache>
            </c:strRef>
          </c:cat>
          <c:val>
            <c:numRef>
              <c:f>Sheet1!$B$2:$B$3</c:f>
              <c:numCache>
                <c:ptCount val="2"/>
                <c:pt idx="0">
                  <c:v>3646</c:v>
                </c:pt>
                <c:pt idx="1">
                  <c:v>1354</c:v>
                </c:pt>
              </c:numCache>
            </c:numRef>
          </c:val>
        </c:ser>
        <c:firstSliceAng val="0"/>
        <c:holeSize val="50"/>
      </c:doughnutChart>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Calls by Topic</a:t>
            </a:r>
          </a:p>
        </c:rich>
      </c:tx>
      <c:layout/>
      <c:overlay val="0"/>
    </c:title>
    <c:autoTitleDeleted val="0"/>
    <c:plotArea>
      <c:layout/>
      <c:barChart>
        <c:barDir val="bar"/>
        <c:grouping val="clustered"/>
        <c:varyColors val="0"/>
        <c:ser>
          <c:idx val="0"/>
          <c:order val="0"/>
          <c:tx>
            <c:strRef>
              <c:f>Sheet1!$B$1</c:f>
              <c:strCache>
                <c:ptCount val="1"/>
                <c:pt idx="0">
                  <c:v>Calls</c:v>
                </c:pt>
              </c:strCache>
            </c:strRef>
          </c:tx>
          <c:spPr>
            <a:solidFill>
              <a:srgbClr val="1A7FA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Streaming</c:v>
                  </c:pt>
                  <c:pt idx="1">
                    <c:v>Technical Support</c:v>
                  </c:pt>
                  <c:pt idx="2">
                    <c:v>Payment Related</c:v>
                  </c:pt>
                  <c:pt idx="3">
                    <c:v>Admin Support</c:v>
                  </c:pt>
                  <c:pt idx="4">
                    <c:v>Contract Related</c:v>
                  </c:pt>
                </c:lvl>
              </c:multiLvlStrCache>
            </c:multiLvlStrRef>
          </c:cat>
          <c:val>
            <c:numRef>
              <c:f>Sheet1!$B$2:$B$6</c:f>
              <c:numCache>
                <c:formatCode>General</c:formatCode>
                <c:ptCount val="5"/>
                <c:pt idx="0">
                  <c:v>1022</c:v>
                </c:pt>
                <c:pt idx="1">
                  <c:v>1019</c:v>
                </c:pt>
                <c:pt idx="2">
                  <c:v>1007</c:v>
                </c:pt>
                <c:pt idx="3">
                  <c:v>976</c:v>
                </c:pt>
                <c:pt idx="4">
                  <c:v>976</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Calls by Satisfaction Rating (1–5)</a:t>
            </a:r>
          </a:p>
        </c:rich>
      </c:tx>
      <c:layout/>
      <c:overlay val="0"/>
    </c:title>
    <c:autoTitleDeleted val="0"/>
    <c:plotArea>
      <c:layout/>
      <c:barChart>
        <c:barDir val="bar"/>
        <c:grouping val="clustered"/>
        <c:varyColors val="0"/>
        <c:ser>
          <c:idx val="0"/>
          <c:order val="0"/>
          <c:tx>
            <c:strRef>
              <c:f>Sheet1!$B$1</c:f>
              <c:strCache>
                <c:ptCount val="1"/>
                <c:pt idx="0">
                  <c:v>Calls</c:v>
                </c:pt>
              </c:strCache>
            </c:strRef>
          </c:tx>
          <c:spPr>
            <a:solidFill>
              <a:srgbClr val="1A7FA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Rating 1 (Very Dissatisfied)</c:v>
                  </c:pt>
                  <c:pt idx="1">
                    <c:v>Rating 2</c:v>
                  </c:pt>
                  <c:pt idx="2">
                    <c:v>Rating 3 (Neutral)</c:v>
                  </c:pt>
                  <c:pt idx="3">
                    <c:v>Rating 4</c:v>
                  </c:pt>
                  <c:pt idx="4">
                    <c:v>Rating 5 (Very Satisfied)</c:v>
                  </c:pt>
                </c:lvl>
              </c:multiLvlStrCache>
            </c:multiLvlStrRef>
          </c:cat>
          <c:val>
            <c:numRef>
              <c:f>Sheet1!$B$2:$B$6</c:f>
              <c:numCache>
                <c:formatCode>General</c:formatCode>
                <c:ptCount val="5"/>
                <c:pt idx="0">
                  <c:v>396</c:v>
                </c:pt>
                <c:pt idx="1">
                  <c:v>417</c:v>
                </c:pt>
                <c:pt idx="2">
                  <c:v>843</c:v>
                </c:pt>
                <c:pt idx="3">
                  <c:v>946</c:v>
                </c:pt>
                <c:pt idx="4">
                  <c:v>1180</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Average Call Duration by Agent (minutes)</a:t>
            </a:r>
          </a:p>
        </c:rich>
      </c:tx>
      <c:layout/>
      <c:overlay val="0"/>
    </c:title>
    <c:autoTitleDeleted val="0"/>
    <c:plotArea>
      <c:layout/>
      <c:barChart>
        <c:barDir val="col"/>
        <c:grouping val="clustered"/>
        <c:varyColors val="0"/>
        <c:ser>
          <c:idx val="0"/>
          <c:order val="0"/>
          <c:tx>
            <c:strRef>
              <c:f>Sheet1!$B$1</c:f>
              <c:strCache>
                <c:ptCount val="1"/>
                <c:pt idx="0">
                  <c:v>Avg Duration (min)</c:v>
                </c:pt>
              </c:strCache>
            </c:strRef>
          </c:tx>
          <c:spPr>
            <a:solidFill>
              <a:srgbClr val="1A7FA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Sheet1!$A$2:$A$9</c:f>
              <c:multiLvlStrCache>
                <c:ptCount val="8"/>
                <c:lvl>
                  <c:pt idx="0">
                    <c:v>Jim</c:v>
                  </c:pt>
                  <c:pt idx="1">
                    <c:v>Dan</c:v>
                  </c:pt>
                  <c:pt idx="2">
                    <c:v>Martha</c:v>
                  </c:pt>
                  <c:pt idx="3">
                    <c:v>Greg</c:v>
                  </c:pt>
                  <c:pt idx="4">
                    <c:v>Becky</c:v>
                  </c:pt>
                  <c:pt idx="5">
                    <c:v>Diane</c:v>
                  </c:pt>
                  <c:pt idx="6">
                    <c:v>Joe</c:v>
                  </c:pt>
                  <c:pt idx="7">
                    <c:v>Stewart</c:v>
                  </c:pt>
                </c:lvl>
              </c:multiLvlStrCache>
            </c:multiLvlStrRef>
          </c:cat>
          <c:val>
            <c:numRef>
              <c:f>Sheet1!$B$2:$B$9</c:f>
              <c:numCache>
                <c:formatCode>General</c:formatCode>
                <c:ptCount val="8"/>
                <c:pt idx="0">
                  <c:v>84.91</c:v>
                </c:pt>
                <c:pt idx="1">
                  <c:v>83.97</c:v>
                </c:pt>
                <c:pt idx="2">
                  <c:v>79.86</c:v>
                </c:pt>
                <c:pt idx="3">
                  <c:v>79.07</c:v>
                </c:pt>
                <c:pt idx="4">
                  <c:v>78.99</c:v>
                </c:pt>
                <c:pt idx="5">
                  <c:v>76.18</c:v>
                </c:pt>
                <c:pt idx="6">
                  <c:v>75.32</c:v>
                </c:pt>
                <c:pt idx="7">
                  <c:v>74.93</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7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CSAT % by Agent</a:t>
            </a:r>
          </a:p>
        </c:rich>
      </c:tx>
      <c:layout/>
      <c:overlay val="0"/>
    </c:title>
    <c:autoTitleDeleted val="0"/>
    <c:plotArea>
      <c:layout/>
      <c:barChart>
        <c:barDir val="col"/>
        <c:grouping val="clustered"/>
        <c:varyColors val="0"/>
        <c:ser>
          <c:idx val="0"/>
          <c:order val="0"/>
          <c:tx>
            <c:strRef>
              <c:f>Sheet1!$B$1</c:f>
              <c:strCache>
                <c:ptCount val="1"/>
                <c:pt idx="0">
                  <c:v>CSAT %</c:v>
                </c:pt>
              </c:strCache>
            </c:strRef>
          </c:tx>
          <c:spPr>
            <a:solidFill>
              <a:srgbClr val="1A7FA1"/>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Sheet1!$A$2:$A$9</c:f>
              <c:multiLvlStrCache>
                <c:ptCount val="8"/>
                <c:lvl>
                  <c:pt idx="0">
                    <c:v>Martha</c:v>
                  </c:pt>
                  <c:pt idx="1">
                    <c:v>Stewart</c:v>
                  </c:pt>
                  <c:pt idx="2">
                    <c:v>Becky</c:v>
                  </c:pt>
                  <c:pt idx="3">
                    <c:v>Jim</c:v>
                  </c:pt>
                  <c:pt idx="4">
                    <c:v>Dan</c:v>
                  </c:pt>
                  <c:pt idx="5">
                    <c:v>Diane</c:v>
                  </c:pt>
                  <c:pt idx="6">
                    <c:v>Greg</c:v>
                  </c:pt>
                  <c:pt idx="7">
                    <c:v>Joe</c:v>
                  </c:pt>
                </c:lvl>
              </c:multiLvlStrCache>
            </c:multiLvlStrRef>
          </c:cat>
          <c:val>
            <c:numRef>
              <c:f>Sheet1!$B$2:$B$9</c:f>
              <c:numCache>
                <c:formatCode>General</c:formatCode>
                <c:ptCount val="8"/>
                <c:pt idx="0">
                  <c:v>52.72</c:v>
                </c:pt>
                <c:pt idx="1">
                  <c:v>51.36</c:v>
                </c:pt>
                <c:pt idx="2">
                  <c:v>50.48</c:v>
                </c:pt>
                <c:pt idx="3">
                  <c:v>50</c:v>
                </c:pt>
                <c:pt idx="4">
                  <c:v>49.9</c:v>
                </c:pt>
                <c:pt idx="5">
                  <c:v>49.1</c:v>
                </c:pt>
                <c:pt idx="6">
                  <c:v>48.01</c:v>
                </c:pt>
                <c:pt idx="7">
                  <c:v>47.52</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6"/>
          <c:min val="4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CSAT % Trend by Month</a:t>
            </a:r>
          </a:p>
        </c:rich>
      </c:tx>
      <c:layout/>
      <c:overlay val="0"/>
    </c:title>
    <c:autoTitleDeleted val="0"/>
    <c:plotArea>
      <c:layout/>
      <c:lineChart>
        <c:varyColors val="0"/>
        <c:ser>
          <c:idx val="0"/>
          <c:order val="0"/>
          <c:tx>
            <c:strRef>
              <c:f>Sheet1!$B$1</c:f>
              <c:strCache>
                <c:ptCount val="1"/>
                <c:pt idx="0">
                  <c:v>CSAT %</c:v>
                </c:pt>
              </c:strCache>
            </c:strRef>
          </c:tx>
          <c:spPr>
            <a:solidFill>
              <a:srgbClr val="1A7FA1"/>
            </a:solidFill>
            <a:ln w="38100" cap="flat">
              <a:solidFill>
                <a:srgbClr val="1A7FA1"/>
              </a:solidFill>
              <a:prstDash val="solid"/>
              <a:round/>
            </a:ln>
            <a:effectLst/>
          </c:spPr>
          <c:invertIfNegative val="0"/>
          <c:dLbls>
            <c:numFmt formatCode="#,##0" sourceLinked="0"/>
            <c:txPr>
              <a:bodyPr/>
              <a:lstStyle/>
              <a:p>
                <a:pPr>
                  <a:defRPr b="0" i="0" strike="noStrike" sz="1200" u="none">
                    <a:solidFill>
                      <a:srgbClr val="0D1F3C"/>
                    </a:solidFill>
                    <a:latin typeface="Arial"/>
                  </a:defRPr>
                </a:pPr>
              </a:p>
            </c:txPr>
            <c:showLegendKey val="0"/>
            <c:showVal val="1"/>
            <c:showCatName val="0"/>
            <c:showSerName val="0"/>
            <c:showPercent val="0"/>
            <c:showBubbleSize val="0"/>
            <c:showLeaderLines val="0"/>
          </c:dLbls>
          <c:marker>
            <c:symbol val="circle"/>
            <c:size val="6"/>
            <c:spPr>
              <a:solidFill>
                <a:srgbClr val="1A7FA1"/>
              </a:solidFill>
              <a:ln w="9525" cap="flat">
                <a:solidFill>
                  <a:srgbClr val="1A7FA1"/>
                </a:solidFill>
                <a:prstDash val="solid"/>
                <a:round/>
              </a:ln>
              <a:effectLst/>
            </c:spPr>
          </c:marker>
          <c:cat>
            <c:multiLvlStrRef>
              <c:f>Sheet1!$A$2:$A$4</c:f>
              <c:multiLvlStrCache>
                <c:ptCount val="3"/>
                <c:lvl>
                  <c:pt idx="0">
                    <c:v>January</c:v>
                  </c:pt>
                  <c:pt idx="1">
                    <c:v>February</c:v>
                  </c:pt>
                  <c:pt idx="2">
                    <c:v>March</c:v>
                  </c:pt>
                </c:lvl>
              </c:multiLvlStrCache>
            </c:multiLvlStrRef>
          </c:cat>
          <c:val>
            <c:numRef>
              <c:f>Sheet1!$B$2:$B$4</c:f>
              <c:numCache>
                <c:formatCode>General</c:formatCode>
                <c:ptCount val="3"/>
                <c:pt idx="0">
                  <c:v>50.24</c:v>
                </c:pt>
                <c:pt idx="1">
                  <c:v>48.89</c:v>
                </c:pt>
                <c:pt idx="2">
                  <c:v>50.54</c:v>
                </c:pt>
              </c:numCache>
            </c:numRef>
          </c:val>
          <c:smooth val="1"/>
        </c:ser>
        <c:dLbls>
          <c:numFmt formatCode="#,##0" sourceLinked="0"/>
          <c:txPr>
            <a:bodyPr/>
            <a:lstStyle/>
            <a:p>
              <a:pPr>
                <a:defRPr b="0" i="0" strike="noStrike" sz="1200" u="none">
                  <a:solidFill>
                    <a:srgbClr val="0D1F3C"/>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2"/>
          <c:min val="47"/>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1F3C"/>
                </a:solidFill>
                <a:latin typeface="Arial"/>
              </a:defRPr>
            </a:pPr>
            <a:r>
              <a:rPr sz="1300" b="0" i="0" u="none" strike="noStrike">
                <a:solidFill>
                  <a:srgbClr val="0D1F3C"/>
                </a:solidFill>
                <a:latin typeface="Arial"/>
              </a:rPr>
              <a:t>CSAT Survey Responses by Topic</a:t>
            </a:r>
          </a:p>
        </c:rich>
      </c:tx>
      <c:layout/>
      <c:overlay val="0"/>
    </c:title>
    <c:autoTitleDeleted val="0"/>
    <c:plotArea>
      <c:layout/>
      <c:barChart>
        <c:barDir val="bar"/>
        <c:grouping val="clustered"/>
        <c:varyColors val="0"/>
        <c:ser>
          <c:idx val="0"/>
          <c:order val="0"/>
          <c:tx>
            <c:strRef>
              <c:f>Sheet1!$B$1</c:f>
              <c:strCache>
                <c:ptCount val="1"/>
                <c:pt idx="0">
                  <c:v>Responses</c:v>
                </c:pt>
              </c:strCache>
            </c:strRef>
          </c:tx>
          <c:spPr>
            <a:solidFill>
              <a:srgbClr val="1B4F72"/>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Streaming</c:v>
                  </c:pt>
                  <c:pt idx="1">
                    <c:v>Payment Related</c:v>
                  </c:pt>
                  <c:pt idx="2">
                    <c:v>Technical Support</c:v>
                  </c:pt>
                  <c:pt idx="3">
                    <c:v>Admin Support</c:v>
                  </c:pt>
                  <c:pt idx="4">
                    <c:v>Contract Related</c:v>
                  </c:pt>
                </c:lvl>
              </c:multiLvlStrCache>
            </c:multiLvlStrRef>
          </c:cat>
          <c:val>
            <c:numRef>
              <c:f>Sheet1!$B$2:$B$6</c:f>
              <c:numCache>
                <c:formatCode>General</c:formatCode>
                <c:ptCount val="5"/>
                <c:pt idx="0">
                  <c:v>847</c:v>
                </c:pt>
                <c:pt idx="1">
                  <c:v>818</c:v>
                </c:pt>
                <c:pt idx="2">
                  <c:v>805</c:v>
                </c:pt>
                <c:pt idx="3">
                  <c:v>795</c:v>
                </c:pt>
                <c:pt idx="4">
                  <c:v>789</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in val="76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7FA1"/>
          </a:solidFill>
          <a:ln w="12700">
            <a:solidFill>
              <a:srgbClr val="1A7FA1"/>
            </a:solidFill>
            <a:prstDash val="solid"/>
          </a:ln>
        </p:spPr>
      </p:sp>
      <p:sp>
        <p:nvSpPr>
          <p:cNvPr id="3" name="Shape 1"/>
          <p:cNvSpPr/>
          <p:nvPr/>
        </p:nvSpPr>
        <p:spPr>
          <a:xfrm>
            <a:off x="164592" y="0"/>
            <a:ext cx="8979408" cy="64008"/>
          </a:xfrm>
          <a:prstGeom prst="rect">
            <a:avLst/>
          </a:prstGeom>
          <a:solidFill>
            <a:srgbClr val="F5A623"/>
          </a:solidFill>
          <a:ln w="12700">
            <a:solidFill>
              <a:srgbClr val="F5A623"/>
            </a:solidFill>
            <a:prstDash val="solid"/>
          </a:ln>
        </p:spPr>
      </p:sp>
      <p:sp>
        <p:nvSpPr>
          <p:cNvPr id="4" name="Text 2"/>
          <p:cNvSpPr/>
          <p:nvPr/>
        </p:nvSpPr>
        <p:spPr>
          <a:xfrm>
            <a:off x="457200" y="914400"/>
            <a:ext cx="8229600" cy="77724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Call Center Performance</a:t>
            </a:r>
            <a:endParaRPr lang="en-US" sz="4200" dirty="0"/>
          </a:p>
        </p:txBody>
      </p:sp>
      <p:sp>
        <p:nvSpPr>
          <p:cNvPr id="5" name="Text 3"/>
          <p:cNvSpPr/>
          <p:nvPr/>
        </p:nvSpPr>
        <p:spPr>
          <a:xfrm>
            <a:off x="457200" y="1691640"/>
            <a:ext cx="8229600" cy="685800"/>
          </a:xfrm>
          <a:prstGeom prst="rect">
            <a:avLst/>
          </a:prstGeom>
          <a:noFill/>
          <a:ln/>
        </p:spPr>
        <p:txBody>
          <a:bodyPr wrap="square" lIns="0" tIns="0" rIns="0" bIns="0" rtlCol="0" anchor="ctr"/>
          <a:lstStyle/>
          <a:p>
            <a:pPr algn="l" indent="0" marL="0">
              <a:buNone/>
            </a:pPr>
            <a:r>
              <a:rPr lang="en-US" sz="3800" dirty="0">
                <a:solidFill>
                  <a:srgbClr val="1A7FA1"/>
                </a:solidFill>
                <a:latin typeface="Calibri" pitchFamily="34" charset="0"/>
                <a:ea typeface="Calibri" pitchFamily="34" charset="-122"/>
                <a:cs typeface="Calibri" pitchFamily="34" charset="-120"/>
              </a:rPr>
              <a:t>Dashboard Report</a:t>
            </a:r>
            <a:endParaRPr lang="en-US" sz="3800" dirty="0"/>
          </a:p>
        </p:txBody>
      </p:sp>
      <p:sp>
        <p:nvSpPr>
          <p:cNvPr id="6" name="Shape 4"/>
          <p:cNvSpPr/>
          <p:nvPr/>
        </p:nvSpPr>
        <p:spPr>
          <a:xfrm>
            <a:off x="457200" y="2514600"/>
            <a:ext cx="4114800" cy="36576"/>
          </a:xfrm>
          <a:prstGeom prst="rect">
            <a:avLst/>
          </a:prstGeom>
          <a:solidFill>
            <a:srgbClr val="F5A623"/>
          </a:solidFill>
          <a:ln w="12700">
            <a:solidFill>
              <a:srgbClr val="F5A623"/>
            </a:solidFill>
            <a:prstDash val="solid"/>
          </a:ln>
        </p:spPr>
      </p:sp>
      <p:sp>
        <p:nvSpPr>
          <p:cNvPr id="7" name="Text 5"/>
          <p:cNvSpPr/>
          <p:nvPr/>
        </p:nvSpPr>
        <p:spPr>
          <a:xfrm>
            <a:off x="457200" y="2651760"/>
            <a:ext cx="6400800" cy="822960"/>
          </a:xfrm>
          <a:prstGeom prst="rect">
            <a:avLst/>
          </a:prstGeom>
          <a:noFill/>
          <a:ln/>
        </p:spPr>
        <p:txBody>
          <a:bodyPr wrap="square" rtlCol="0" anchor="t"/>
          <a:lstStyle/>
          <a:p>
            <a:pPr algn="l" indent="0" marL="0">
              <a:buNone/>
            </a:pPr>
            <a:r>
              <a:rPr lang="en-US" sz="1600" dirty="0">
                <a:solidFill>
                  <a:srgbClr val="B0C4D8"/>
                </a:solidFill>
                <a:latin typeface="Calibri" pitchFamily="34" charset="0"/>
                <a:ea typeface="Calibri" pitchFamily="34" charset="-122"/>
                <a:cs typeface="Calibri" pitchFamily="34" charset="-120"/>
              </a:rPr>
              <a:t>Q1 2021 · January – March</a:t>
            </a:r>
            <a:endParaRPr lang="en-US" sz="1600" dirty="0"/>
          </a:p>
          <a:p>
            <a:pPr algn="l" indent="0" marL="0">
              <a:buNone/>
            </a:pPr>
            <a:r>
              <a:rPr lang="en-US" sz="1600" dirty="0">
                <a:solidFill>
                  <a:srgbClr val="B0C4D8"/>
                </a:solidFill>
                <a:latin typeface="Calibri" pitchFamily="34" charset="0"/>
                <a:ea typeface="Calibri" pitchFamily="34" charset="-122"/>
                <a:cs typeface="Calibri" pitchFamily="34" charset="-120"/>
              </a:rPr>
              <a:t>Overview &amp; CSAT Analysis</a:t>
            </a:r>
            <a:endParaRPr lang="en-US" sz="1600" dirty="0"/>
          </a:p>
        </p:txBody>
      </p:sp>
      <p:sp>
        <p:nvSpPr>
          <p:cNvPr id="8" name="Text 6"/>
          <p:cNvSpPr/>
          <p:nvPr/>
        </p:nvSpPr>
        <p:spPr>
          <a:xfrm>
            <a:off x="457200" y="4206240"/>
            <a:ext cx="4572000" cy="320040"/>
          </a:xfrm>
          <a:prstGeom prst="rect">
            <a:avLst/>
          </a:prstGeom>
          <a:noFill/>
          <a:ln/>
        </p:spPr>
        <p:txBody>
          <a:bodyPr wrap="square" lIns="0" tIns="0" rIns="0" bIns="0" rtlCol="0" anchor="ctr"/>
          <a:lstStyle/>
          <a:p>
            <a:pPr algn="l" indent="0" marL="0">
              <a:buNone/>
            </a:pPr>
            <a:r>
              <a:rPr lang="en-US" sz="1200" dirty="0">
                <a:solidFill>
                  <a:srgbClr val="7F8C8D"/>
                </a:solidFill>
                <a:latin typeface="Calibri" pitchFamily="34" charset="0"/>
                <a:ea typeface="Calibri" pitchFamily="34" charset="-122"/>
                <a:cs typeface="Calibri" pitchFamily="34" charset="-120"/>
              </a:rPr>
              <a:t>Prepared by:  Ramy Hasan</a:t>
            </a:r>
            <a:endParaRPr lang="en-US" sz="1200" dirty="0"/>
          </a:p>
        </p:txBody>
      </p:sp>
      <p:sp>
        <p:nvSpPr>
          <p:cNvPr id="9" name="Text 7"/>
          <p:cNvSpPr/>
          <p:nvPr/>
        </p:nvSpPr>
        <p:spPr>
          <a:xfrm>
            <a:off x="457200" y="4526280"/>
            <a:ext cx="5486400" cy="274320"/>
          </a:xfrm>
          <a:prstGeom prst="rect">
            <a:avLst/>
          </a:prstGeom>
          <a:noFill/>
          <a:ln/>
        </p:spPr>
        <p:txBody>
          <a:bodyPr wrap="square" lIns="0" tIns="0" rIns="0" bIns="0" rtlCol="0" anchor="ctr"/>
          <a:lstStyle/>
          <a:p>
            <a:pPr algn="l" indent="0" marL="0">
              <a:buNone/>
            </a:pPr>
            <a:r>
              <a:rPr lang="en-US" sz="1100" dirty="0">
                <a:solidFill>
                  <a:srgbClr val="7F8C8D"/>
                </a:solidFill>
                <a:latin typeface="Calibri" pitchFamily="34" charset="0"/>
                <a:ea typeface="Calibri" pitchFamily="34" charset="-122"/>
                <a:cs typeface="Calibri" pitchFamily="34" charset="-120"/>
              </a:rPr>
              <a:t>Data Period:  01 Jan 2021 – 31 Mar 2021</a:t>
            </a:r>
            <a:endParaRPr lang="en-US" sz="1100" dirty="0"/>
          </a:p>
        </p:txBody>
      </p:sp>
      <p:sp>
        <p:nvSpPr>
          <p:cNvPr id="10" name="Shape 8"/>
          <p:cNvSpPr/>
          <p:nvPr/>
        </p:nvSpPr>
        <p:spPr>
          <a:xfrm>
            <a:off x="7132320" y="457200"/>
            <a:ext cx="2286000" cy="2286000"/>
          </a:xfrm>
          <a:prstGeom prst="ellipse">
            <a:avLst/>
          </a:prstGeom>
          <a:solidFill>
            <a:srgbClr val="1A7FA1">
              <a:alpha val="20000"/>
            </a:srgbClr>
          </a:solidFill>
          <a:ln w="12700">
            <a:solidFill>
              <a:srgbClr val="1A7FA1">
                <a:alpha val="30000"/>
              </a:srgbClr>
            </a:solidFill>
            <a:prstDash val="solid"/>
          </a:ln>
        </p:spPr>
      </p:sp>
      <p:sp>
        <p:nvSpPr>
          <p:cNvPr id="11" name="Shape 9"/>
          <p:cNvSpPr/>
          <p:nvPr/>
        </p:nvSpPr>
        <p:spPr>
          <a:xfrm>
            <a:off x="7772400" y="2286000"/>
            <a:ext cx="1371600" cy="1371600"/>
          </a:xfrm>
          <a:prstGeom prst="ellipse">
            <a:avLst/>
          </a:prstGeom>
          <a:solidFill>
            <a:srgbClr val="F5A623">
              <a:alpha val="25000"/>
            </a:srgbClr>
          </a:solidFill>
          <a:ln w="12700">
            <a:solidFill>
              <a:srgbClr val="F5A623">
                <a:alpha val="35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TABLE OF CONTENTS</a:t>
            </a:r>
            <a:endParaRPr lang="en-US" sz="1800" dirty="0"/>
          </a:p>
        </p:txBody>
      </p:sp>
      <p:sp>
        <p:nvSpPr>
          <p:cNvPr id="4" name="Shape 2"/>
          <p:cNvSpPr/>
          <p:nvPr/>
        </p:nvSpPr>
        <p:spPr>
          <a:xfrm>
            <a:off x="365760" y="91440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65760" y="914400"/>
            <a:ext cx="73152" cy="1005840"/>
          </a:xfrm>
          <a:prstGeom prst="rect">
            <a:avLst/>
          </a:prstGeom>
          <a:solidFill>
            <a:srgbClr val="1A7FA1"/>
          </a:solidFill>
          <a:ln w="12700">
            <a:solidFill>
              <a:srgbClr val="1A7FA1"/>
            </a:solidFill>
            <a:prstDash val="solid"/>
          </a:ln>
        </p:spPr>
      </p:sp>
      <p:sp>
        <p:nvSpPr>
          <p:cNvPr id="6" name="Text 4"/>
          <p:cNvSpPr/>
          <p:nvPr/>
        </p:nvSpPr>
        <p:spPr>
          <a:xfrm>
            <a:off x="502920" y="97840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502920" y="123444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Executive Summary</a:t>
            </a:r>
            <a:endParaRPr lang="en-US" sz="1400" dirty="0"/>
          </a:p>
        </p:txBody>
      </p:sp>
      <p:sp>
        <p:nvSpPr>
          <p:cNvPr id="8" name="Text 6"/>
          <p:cNvSpPr/>
          <p:nvPr/>
        </p:nvSpPr>
        <p:spPr>
          <a:xfrm>
            <a:off x="502920" y="155448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High-level performance snapshot for Q1 2021</a:t>
            </a:r>
            <a:endParaRPr lang="en-US" sz="1050" dirty="0"/>
          </a:p>
        </p:txBody>
      </p:sp>
      <p:sp>
        <p:nvSpPr>
          <p:cNvPr id="9" name="Shape 7"/>
          <p:cNvSpPr/>
          <p:nvPr/>
        </p:nvSpPr>
        <p:spPr>
          <a:xfrm>
            <a:off x="365760" y="210312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365760" y="2103120"/>
            <a:ext cx="73152" cy="1005840"/>
          </a:xfrm>
          <a:prstGeom prst="rect">
            <a:avLst/>
          </a:prstGeom>
          <a:solidFill>
            <a:srgbClr val="1A7FA1"/>
          </a:solidFill>
          <a:ln w="12700">
            <a:solidFill>
              <a:srgbClr val="1A7FA1"/>
            </a:solidFill>
            <a:prstDash val="solid"/>
          </a:ln>
        </p:spPr>
      </p:sp>
      <p:sp>
        <p:nvSpPr>
          <p:cNvPr id="11" name="Text 9"/>
          <p:cNvSpPr/>
          <p:nvPr/>
        </p:nvSpPr>
        <p:spPr>
          <a:xfrm>
            <a:off x="502920" y="216712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02</a:t>
            </a:r>
            <a:endParaRPr lang="en-US" sz="1000" dirty="0"/>
          </a:p>
        </p:txBody>
      </p:sp>
      <p:sp>
        <p:nvSpPr>
          <p:cNvPr id="12" name="Text 10"/>
          <p:cNvSpPr/>
          <p:nvPr/>
        </p:nvSpPr>
        <p:spPr>
          <a:xfrm>
            <a:off x="502920" y="242316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Call Volume Overview</a:t>
            </a:r>
            <a:endParaRPr lang="en-US" sz="1400" dirty="0"/>
          </a:p>
        </p:txBody>
      </p:sp>
      <p:sp>
        <p:nvSpPr>
          <p:cNvPr id="13" name="Text 11"/>
          <p:cNvSpPr/>
          <p:nvPr/>
        </p:nvSpPr>
        <p:spPr>
          <a:xfrm>
            <a:off x="502920" y="274320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Total calls, answered vs rejected, monthly trends</a:t>
            </a:r>
            <a:endParaRPr lang="en-US" sz="1050" dirty="0"/>
          </a:p>
        </p:txBody>
      </p:sp>
      <p:sp>
        <p:nvSpPr>
          <p:cNvPr id="14" name="Shape 12"/>
          <p:cNvSpPr/>
          <p:nvPr/>
        </p:nvSpPr>
        <p:spPr>
          <a:xfrm>
            <a:off x="365760" y="329184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365760" y="3291840"/>
            <a:ext cx="73152" cy="1005840"/>
          </a:xfrm>
          <a:prstGeom prst="rect">
            <a:avLst/>
          </a:prstGeom>
          <a:solidFill>
            <a:srgbClr val="1A7FA1"/>
          </a:solidFill>
          <a:ln w="12700">
            <a:solidFill>
              <a:srgbClr val="1A7FA1"/>
            </a:solidFill>
            <a:prstDash val="solid"/>
          </a:ln>
        </p:spPr>
      </p:sp>
      <p:sp>
        <p:nvSpPr>
          <p:cNvPr id="16" name="Text 14"/>
          <p:cNvSpPr/>
          <p:nvPr/>
        </p:nvSpPr>
        <p:spPr>
          <a:xfrm>
            <a:off x="502920" y="335584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03</a:t>
            </a:r>
            <a:endParaRPr lang="en-US" sz="1000" dirty="0"/>
          </a:p>
        </p:txBody>
      </p:sp>
      <p:sp>
        <p:nvSpPr>
          <p:cNvPr id="17" name="Text 15"/>
          <p:cNvSpPr/>
          <p:nvPr/>
        </p:nvSpPr>
        <p:spPr>
          <a:xfrm>
            <a:off x="502920" y="361188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Resolution Analysis</a:t>
            </a:r>
            <a:endParaRPr lang="en-US" sz="1400" dirty="0"/>
          </a:p>
        </p:txBody>
      </p:sp>
      <p:sp>
        <p:nvSpPr>
          <p:cNvPr id="18" name="Text 16"/>
          <p:cNvSpPr/>
          <p:nvPr/>
        </p:nvSpPr>
        <p:spPr>
          <a:xfrm>
            <a:off x="502920" y="393192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Resolved vs not resolved breakdown &amp; topics</a:t>
            </a:r>
            <a:endParaRPr lang="en-US" sz="1050" dirty="0"/>
          </a:p>
        </p:txBody>
      </p:sp>
      <p:sp>
        <p:nvSpPr>
          <p:cNvPr id="19" name="Shape 17"/>
          <p:cNvSpPr/>
          <p:nvPr/>
        </p:nvSpPr>
        <p:spPr>
          <a:xfrm>
            <a:off x="4846320" y="91440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846320" y="914400"/>
            <a:ext cx="73152" cy="1005840"/>
          </a:xfrm>
          <a:prstGeom prst="rect">
            <a:avLst/>
          </a:prstGeom>
          <a:solidFill>
            <a:srgbClr val="1A7FA1"/>
          </a:solidFill>
          <a:ln w="12700">
            <a:solidFill>
              <a:srgbClr val="1A7FA1"/>
            </a:solidFill>
            <a:prstDash val="solid"/>
          </a:ln>
        </p:spPr>
      </p:sp>
      <p:sp>
        <p:nvSpPr>
          <p:cNvPr id="21" name="Text 19"/>
          <p:cNvSpPr/>
          <p:nvPr/>
        </p:nvSpPr>
        <p:spPr>
          <a:xfrm>
            <a:off x="4983480" y="97840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04</a:t>
            </a:r>
            <a:endParaRPr lang="en-US" sz="1000" dirty="0"/>
          </a:p>
        </p:txBody>
      </p:sp>
      <p:sp>
        <p:nvSpPr>
          <p:cNvPr id="22" name="Text 20"/>
          <p:cNvSpPr/>
          <p:nvPr/>
        </p:nvSpPr>
        <p:spPr>
          <a:xfrm>
            <a:off x="4983480" y="123444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Agent Performance</a:t>
            </a:r>
            <a:endParaRPr lang="en-US" sz="1400" dirty="0"/>
          </a:p>
        </p:txBody>
      </p:sp>
      <p:sp>
        <p:nvSpPr>
          <p:cNvPr id="23" name="Text 21"/>
          <p:cNvSpPr/>
          <p:nvPr/>
        </p:nvSpPr>
        <p:spPr>
          <a:xfrm>
            <a:off x="4983480" y="155448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Call duration &amp; workload per agent</a:t>
            </a:r>
            <a:endParaRPr lang="en-US" sz="1050" dirty="0"/>
          </a:p>
        </p:txBody>
      </p:sp>
      <p:sp>
        <p:nvSpPr>
          <p:cNvPr id="24" name="Shape 22"/>
          <p:cNvSpPr/>
          <p:nvPr/>
        </p:nvSpPr>
        <p:spPr>
          <a:xfrm>
            <a:off x="4846320" y="210312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846320" y="2103120"/>
            <a:ext cx="73152" cy="1005840"/>
          </a:xfrm>
          <a:prstGeom prst="rect">
            <a:avLst/>
          </a:prstGeom>
          <a:solidFill>
            <a:srgbClr val="1A7FA1"/>
          </a:solidFill>
          <a:ln w="12700">
            <a:solidFill>
              <a:srgbClr val="1A7FA1"/>
            </a:solidFill>
            <a:prstDash val="solid"/>
          </a:ln>
        </p:spPr>
      </p:sp>
      <p:sp>
        <p:nvSpPr>
          <p:cNvPr id="26" name="Text 24"/>
          <p:cNvSpPr/>
          <p:nvPr/>
        </p:nvSpPr>
        <p:spPr>
          <a:xfrm>
            <a:off x="4983480" y="216712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05</a:t>
            </a:r>
            <a:endParaRPr lang="en-US" sz="1000" dirty="0"/>
          </a:p>
        </p:txBody>
      </p:sp>
      <p:sp>
        <p:nvSpPr>
          <p:cNvPr id="27" name="Text 25"/>
          <p:cNvSpPr/>
          <p:nvPr/>
        </p:nvSpPr>
        <p:spPr>
          <a:xfrm>
            <a:off x="4983480" y="242316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CSAT Analysis</a:t>
            </a:r>
            <a:endParaRPr lang="en-US" sz="1400" dirty="0"/>
          </a:p>
        </p:txBody>
      </p:sp>
      <p:sp>
        <p:nvSpPr>
          <p:cNvPr id="28" name="Text 26"/>
          <p:cNvSpPr/>
          <p:nvPr/>
        </p:nvSpPr>
        <p:spPr>
          <a:xfrm>
            <a:off x="4983480" y="274320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Customer Satisfaction % by agent, month &amp; topic</a:t>
            </a:r>
            <a:endParaRPr lang="en-US" sz="1050" dirty="0"/>
          </a:p>
        </p:txBody>
      </p:sp>
      <p:sp>
        <p:nvSpPr>
          <p:cNvPr id="29" name="Shape 27"/>
          <p:cNvSpPr/>
          <p:nvPr/>
        </p:nvSpPr>
        <p:spPr>
          <a:xfrm>
            <a:off x="4846320" y="3291840"/>
            <a:ext cx="420624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4846320" y="3291840"/>
            <a:ext cx="73152" cy="1005840"/>
          </a:xfrm>
          <a:prstGeom prst="rect">
            <a:avLst/>
          </a:prstGeom>
          <a:solidFill>
            <a:srgbClr val="1A7FA1"/>
          </a:solidFill>
          <a:ln w="12700">
            <a:solidFill>
              <a:srgbClr val="1A7FA1"/>
            </a:solidFill>
            <a:prstDash val="solid"/>
          </a:ln>
        </p:spPr>
      </p:sp>
      <p:sp>
        <p:nvSpPr>
          <p:cNvPr id="31" name="Text 29"/>
          <p:cNvSpPr/>
          <p:nvPr/>
        </p:nvSpPr>
        <p:spPr>
          <a:xfrm>
            <a:off x="4983480" y="3355848"/>
            <a:ext cx="502920" cy="274320"/>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06</a:t>
            </a:r>
            <a:endParaRPr lang="en-US" sz="1000" dirty="0"/>
          </a:p>
        </p:txBody>
      </p:sp>
      <p:sp>
        <p:nvSpPr>
          <p:cNvPr id="32" name="Text 30"/>
          <p:cNvSpPr/>
          <p:nvPr/>
        </p:nvSpPr>
        <p:spPr>
          <a:xfrm>
            <a:off x="4983480" y="3611880"/>
            <a:ext cx="3840480" cy="347472"/>
          </a:xfrm>
          <a:prstGeom prst="rect">
            <a:avLst/>
          </a:prstGeom>
          <a:noFill/>
          <a:ln/>
        </p:spPr>
        <p:txBody>
          <a:bodyPr wrap="square" lIns="0" tIns="0" rIns="0" bIns="0" rtlCol="0" anchor="ctr"/>
          <a:lstStyle/>
          <a:p>
            <a:pPr algn="l" indent="0" marL="0">
              <a:buNone/>
            </a:pPr>
            <a:r>
              <a:rPr lang="en-US" sz="1400" b="1" dirty="0">
                <a:solidFill>
                  <a:srgbClr val="0D1F3C"/>
                </a:solidFill>
                <a:latin typeface="Calibri" pitchFamily="34" charset="0"/>
                <a:ea typeface="Calibri" pitchFamily="34" charset="-122"/>
                <a:cs typeface="Calibri" pitchFamily="34" charset="-120"/>
              </a:rPr>
              <a:t>Key Insights &amp; Recommendations</a:t>
            </a:r>
            <a:endParaRPr lang="en-US" sz="1400" dirty="0"/>
          </a:p>
        </p:txBody>
      </p:sp>
      <p:sp>
        <p:nvSpPr>
          <p:cNvPr id="33" name="Text 31"/>
          <p:cNvSpPr/>
          <p:nvPr/>
        </p:nvSpPr>
        <p:spPr>
          <a:xfrm>
            <a:off x="4983480" y="3931920"/>
            <a:ext cx="3840480" cy="320040"/>
          </a:xfrm>
          <a:prstGeom prst="rect">
            <a:avLst/>
          </a:prstGeom>
          <a:noFill/>
          <a:ln/>
        </p:spPr>
        <p:txBody>
          <a:bodyPr wrap="square" lIns="0" tIns="0" rIns="0" bIns="0" rtlCol="0" anchor="ctr"/>
          <a:lstStyle/>
          <a:p>
            <a:pPr algn="l" indent="0" marL="0">
              <a:buNone/>
            </a:pPr>
            <a:r>
              <a:rPr lang="en-US" sz="1050" dirty="0">
                <a:solidFill>
                  <a:srgbClr val="7F8C8D"/>
                </a:solidFill>
                <a:latin typeface="Calibri" pitchFamily="34" charset="0"/>
                <a:ea typeface="Calibri" pitchFamily="34" charset="-122"/>
                <a:cs typeface="Calibri" pitchFamily="34" charset="-120"/>
              </a:rPr>
              <a:t>Data-driven conclusions &amp; next steps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01  |  Executive Summary</a:t>
            </a:r>
            <a:endParaRPr lang="en-US" sz="1800" dirty="0"/>
          </a:p>
        </p:txBody>
      </p:sp>
      <p:sp>
        <p:nvSpPr>
          <p:cNvPr id="4" name="Shape 2"/>
          <p:cNvSpPr/>
          <p:nvPr/>
        </p:nvSpPr>
        <p:spPr>
          <a:xfrm>
            <a:off x="274320" y="868680"/>
            <a:ext cx="1920240" cy="1234440"/>
          </a:xfrm>
          <a:prstGeom prst="rect">
            <a:avLst/>
          </a:prstGeom>
          <a:solidFill>
            <a:srgbClr val="0D1F3C"/>
          </a:solidFill>
          <a:ln w="12700">
            <a:solidFill>
              <a:srgbClr val="0D1F3C"/>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274320" y="914400"/>
            <a:ext cx="192024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5,000</a:t>
            </a:r>
            <a:endParaRPr lang="en-US" sz="2800" dirty="0"/>
          </a:p>
        </p:txBody>
      </p:sp>
      <p:sp>
        <p:nvSpPr>
          <p:cNvPr id="6" name="Text 4"/>
          <p:cNvSpPr/>
          <p:nvPr/>
        </p:nvSpPr>
        <p:spPr>
          <a:xfrm>
            <a:off x="274320" y="1554480"/>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Total Calls</a:t>
            </a:r>
            <a:endParaRPr lang="en-US" sz="1100" dirty="0"/>
          </a:p>
        </p:txBody>
      </p:sp>
      <p:sp>
        <p:nvSpPr>
          <p:cNvPr id="7" name="Text 5"/>
          <p:cNvSpPr/>
          <p:nvPr/>
        </p:nvSpPr>
        <p:spPr>
          <a:xfrm>
            <a:off x="274320" y="1828800"/>
            <a:ext cx="1920240" cy="228600"/>
          </a:xfrm>
          <a:prstGeom prst="rect">
            <a:avLst/>
          </a:prstGeom>
          <a:noFill/>
          <a:ln/>
        </p:spPr>
        <p:txBody>
          <a:bodyPr wrap="square" lIns="0" tIns="0" rIns="0" bIns="0" rtlCol="0" anchor="ctr"/>
          <a:lstStyle/>
          <a:p>
            <a:pPr algn="ctr" indent="0" marL="0">
              <a:buNone/>
            </a:pPr>
            <a:r>
              <a:rPr lang="en-US" sz="900" dirty="0">
                <a:solidFill>
                  <a:srgbClr val="CCDDEE"/>
                </a:solidFill>
                <a:latin typeface="Calibri" pitchFamily="34" charset="0"/>
                <a:ea typeface="Calibri" pitchFamily="34" charset="-122"/>
                <a:cs typeface="Calibri" pitchFamily="34" charset="-120"/>
              </a:rPr>
              <a:t>Q1 2021</a:t>
            </a:r>
            <a:endParaRPr lang="en-US" sz="900" dirty="0"/>
          </a:p>
        </p:txBody>
      </p:sp>
      <p:sp>
        <p:nvSpPr>
          <p:cNvPr id="8" name="Shape 6"/>
          <p:cNvSpPr/>
          <p:nvPr/>
        </p:nvSpPr>
        <p:spPr>
          <a:xfrm>
            <a:off x="2423160" y="868680"/>
            <a:ext cx="1920240" cy="1234440"/>
          </a:xfrm>
          <a:prstGeom prst="rect">
            <a:avLst/>
          </a:prstGeom>
          <a:solidFill>
            <a:srgbClr val="1A7FA1"/>
          </a:solidFill>
          <a:ln w="12700">
            <a:solidFill>
              <a:srgbClr val="1A7FA1"/>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2423160" y="914400"/>
            <a:ext cx="192024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4,054</a:t>
            </a:r>
            <a:endParaRPr lang="en-US" sz="2800" dirty="0"/>
          </a:p>
        </p:txBody>
      </p:sp>
      <p:sp>
        <p:nvSpPr>
          <p:cNvPr id="10" name="Text 8"/>
          <p:cNvSpPr/>
          <p:nvPr/>
        </p:nvSpPr>
        <p:spPr>
          <a:xfrm>
            <a:off x="2423160" y="1554480"/>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Answered Calls</a:t>
            </a:r>
            <a:endParaRPr lang="en-US" sz="1100" dirty="0"/>
          </a:p>
        </p:txBody>
      </p:sp>
      <p:sp>
        <p:nvSpPr>
          <p:cNvPr id="11" name="Text 9"/>
          <p:cNvSpPr/>
          <p:nvPr/>
        </p:nvSpPr>
        <p:spPr>
          <a:xfrm>
            <a:off x="2423160" y="1828800"/>
            <a:ext cx="1920240" cy="228600"/>
          </a:xfrm>
          <a:prstGeom prst="rect">
            <a:avLst/>
          </a:prstGeom>
          <a:noFill/>
          <a:ln/>
        </p:spPr>
        <p:txBody>
          <a:bodyPr wrap="square" lIns="0" tIns="0" rIns="0" bIns="0" rtlCol="0" anchor="ctr"/>
          <a:lstStyle/>
          <a:p>
            <a:pPr algn="ctr" indent="0" marL="0">
              <a:buNone/>
            </a:pPr>
            <a:r>
              <a:rPr lang="en-US" sz="900" dirty="0">
                <a:solidFill>
                  <a:srgbClr val="CCDDEE"/>
                </a:solidFill>
                <a:latin typeface="Calibri" pitchFamily="34" charset="0"/>
                <a:ea typeface="Calibri" pitchFamily="34" charset="-122"/>
                <a:cs typeface="Calibri" pitchFamily="34" charset="-120"/>
              </a:rPr>
              <a:t>81.1% answer rate</a:t>
            </a:r>
            <a:endParaRPr lang="en-US" sz="900" dirty="0"/>
          </a:p>
        </p:txBody>
      </p:sp>
      <p:sp>
        <p:nvSpPr>
          <p:cNvPr id="12" name="Shape 10"/>
          <p:cNvSpPr/>
          <p:nvPr/>
        </p:nvSpPr>
        <p:spPr>
          <a:xfrm>
            <a:off x="4572000" y="868680"/>
            <a:ext cx="1920240" cy="1234440"/>
          </a:xfrm>
          <a:prstGeom prst="rect">
            <a:avLst/>
          </a:prstGeom>
          <a:solidFill>
            <a:srgbClr val="C0392B"/>
          </a:solidFill>
          <a:ln w="12700">
            <a:solidFill>
              <a:srgbClr val="C0392B"/>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572000" y="914400"/>
            <a:ext cx="192024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946</a:t>
            </a:r>
            <a:endParaRPr lang="en-US" sz="2800" dirty="0"/>
          </a:p>
        </p:txBody>
      </p:sp>
      <p:sp>
        <p:nvSpPr>
          <p:cNvPr id="14" name="Text 12"/>
          <p:cNvSpPr/>
          <p:nvPr/>
        </p:nvSpPr>
        <p:spPr>
          <a:xfrm>
            <a:off x="4572000" y="1554480"/>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Rejected Calls</a:t>
            </a:r>
            <a:endParaRPr lang="en-US" sz="1100" dirty="0"/>
          </a:p>
        </p:txBody>
      </p:sp>
      <p:sp>
        <p:nvSpPr>
          <p:cNvPr id="15" name="Text 13"/>
          <p:cNvSpPr/>
          <p:nvPr/>
        </p:nvSpPr>
        <p:spPr>
          <a:xfrm>
            <a:off x="4572000" y="1828800"/>
            <a:ext cx="1920240" cy="228600"/>
          </a:xfrm>
          <a:prstGeom prst="rect">
            <a:avLst/>
          </a:prstGeom>
          <a:noFill/>
          <a:ln/>
        </p:spPr>
        <p:txBody>
          <a:bodyPr wrap="square" lIns="0" tIns="0" rIns="0" bIns="0" rtlCol="0" anchor="ctr"/>
          <a:lstStyle/>
          <a:p>
            <a:pPr algn="ctr" indent="0" marL="0">
              <a:buNone/>
            </a:pPr>
            <a:r>
              <a:rPr lang="en-US" sz="900" dirty="0">
                <a:solidFill>
                  <a:srgbClr val="CCDDEE"/>
                </a:solidFill>
                <a:latin typeface="Calibri" pitchFamily="34" charset="0"/>
                <a:ea typeface="Calibri" pitchFamily="34" charset="-122"/>
                <a:cs typeface="Calibri" pitchFamily="34" charset="-120"/>
              </a:rPr>
              <a:t>18.9% rejected</a:t>
            </a:r>
            <a:endParaRPr lang="en-US" sz="900" dirty="0"/>
          </a:p>
        </p:txBody>
      </p:sp>
      <p:sp>
        <p:nvSpPr>
          <p:cNvPr id="16" name="Shape 14"/>
          <p:cNvSpPr/>
          <p:nvPr/>
        </p:nvSpPr>
        <p:spPr>
          <a:xfrm>
            <a:off x="6720840" y="868680"/>
            <a:ext cx="1920240" cy="1234440"/>
          </a:xfrm>
          <a:prstGeom prst="rect">
            <a:avLst/>
          </a:prstGeom>
          <a:solidFill>
            <a:srgbClr val="8E44AD"/>
          </a:solidFill>
          <a:ln w="12700">
            <a:solidFill>
              <a:srgbClr val="8E44AD"/>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6720840" y="914400"/>
            <a:ext cx="1920240" cy="64008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18" name="Text 16"/>
          <p:cNvSpPr/>
          <p:nvPr/>
        </p:nvSpPr>
        <p:spPr>
          <a:xfrm>
            <a:off x="6720840" y="1554480"/>
            <a:ext cx="192024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Active Agents</a:t>
            </a:r>
            <a:endParaRPr lang="en-US" sz="1100" dirty="0"/>
          </a:p>
        </p:txBody>
      </p:sp>
      <p:sp>
        <p:nvSpPr>
          <p:cNvPr id="19" name="Text 17"/>
          <p:cNvSpPr/>
          <p:nvPr/>
        </p:nvSpPr>
        <p:spPr>
          <a:xfrm>
            <a:off x="6720840" y="1828800"/>
            <a:ext cx="1920240" cy="228600"/>
          </a:xfrm>
          <a:prstGeom prst="rect">
            <a:avLst/>
          </a:prstGeom>
          <a:noFill/>
          <a:ln/>
        </p:spPr>
        <p:txBody>
          <a:bodyPr wrap="square" lIns="0" tIns="0" rIns="0" bIns="0" rtlCol="0" anchor="ctr"/>
          <a:lstStyle/>
          <a:p>
            <a:pPr algn="ctr" indent="0" marL="0">
              <a:buNone/>
            </a:pPr>
            <a:r>
              <a:rPr lang="en-US" sz="900" dirty="0">
                <a:solidFill>
                  <a:srgbClr val="CCDDEE"/>
                </a:solidFill>
                <a:latin typeface="Calibri" pitchFamily="34" charset="0"/>
                <a:ea typeface="Calibri" pitchFamily="34" charset="-122"/>
                <a:cs typeface="Calibri" pitchFamily="34" charset="-120"/>
              </a:rPr>
              <a:t>Agents on floor</a:t>
            </a:r>
            <a:endParaRPr lang="en-US" sz="900" dirty="0"/>
          </a:p>
        </p:txBody>
      </p:sp>
      <p:sp>
        <p:nvSpPr>
          <p:cNvPr id="20" name="Shape 18"/>
          <p:cNvSpPr/>
          <p:nvPr/>
        </p:nvSpPr>
        <p:spPr>
          <a:xfrm>
            <a:off x="274320" y="2331720"/>
            <a:ext cx="1920240" cy="105156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274320" y="2331720"/>
            <a:ext cx="64008" cy="1051560"/>
          </a:xfrm>
          <a:prstGeom prst="rect">
            <a:avLst/>
          </a:prstGeom>
          <a:solidFill>
            <a:srgbClr val="27AE60"/>
          </a:solidFill>
          <a:ln w="12700">
            <a:solidFill>
              <a:srgbClr val="27AE60"/>
            </a:solidFill>
            <a:prstDash val="solid"/>
          </a:ln>
        </p:spPr>
      </p:sp>
      <p:sp>
        <p:nvSpPr>
          <p:cNvPr id="22" name="Text 20"/>
          <p:cNvSpPr/>
          <p:nvPr/>
        </p:nvSpPr>
        <p:spPr>
          <a:xfrm>
            <a:off x="365760" y="2395728"/>
            <a:ext cx="1737360" cy="457200"/>
          </a:xfrm>
          <a:prstGeom prst="rect">
            <a:avLst/>
          </a:prstGeom>
          <a:noFill/>
          <a:ln/>
        </p:spPr>
        <p:txBody>
          <a:bodyPr wrap="square" rtlCol="0" anchor="ctr"/>
          <a:lstStyle/>
          <a:p>
            <a:pPr algn="ctr" indent="0" marL="0">
              <a:buNone/>
            </a:pPr>
            <a:r>
              <a:rPr lang="en-US" sz="2200" b="1" dirty="0">
                <a:solidFill>
                  <a:srgbClr val="27AE60"/>
                </a:solidFill>
                <a:latin typeface="Calibri" pitchFamily="34" charset="0"/>
                <a:ea typeface="Calibri" pitchFamily="34" charset="-122"/>
                <a:cs typeface="Calibri" pitchFamily="34" charset="-120"/>
              </a:rPr>
              <a:t>72.92%</a:t>
            </a:r>
            <a:endParaRPr lang="en-US" sz="2200" dirty="0"/>
          </a:p>
        </p:txBody>
      </p:sp>
      <p:sp>
        <p:nvSpPr>
          <p:cNvPr id="23" name="Text 21"/>
          <p:cNvSpPr/>
          <p:nvPr/>
        </p:nvSpPr>
        <p:spPr>
          <a:xfrm>
            <a:off x="365760" y="2834640"/>
            <a:ext cx="1737360" cy="274320"/>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Call Resolved</a:t>
            </a:r>
            <a:endParaRPr lang="en-US" sz="1000" dirty="0"/>
          </a:p>
        </p:txBody>
      </p:sp>
      <p:sp>
        <p:nvSpPr>
          <p:cNvPr id="24" name="Shape 22"/>
          <p:cNvSpPr/>
          <p:nvPr/>
        </p:nvSpPr>
        <p:spPr>
          <a:xfrm>
            <a:off x="2423160" y="2331720"/>
            <a:ext cx="1920240" cy="105156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2423160" y="2331720"/>
            <a:ext cx="64008" cy="1051560"/>
          </a:xfrm>
          <a:prstGeom prst="rect">
            <a:avLst/>
          </a:prstGeom>
          <a:solidFill>
            <a:srgbClr val="E74C3C"/>
          </a:solidFill>
          <a:ln w="12700">
            <a:solidFill>
              <a:srgbClr val="E74C3C"/>
            </a:solidFill>
            <a:prstDash val="solid"/>
          </a:ln>
        </p:spPr>
      </p:sp>
      <p:sp>
        <p:nvSpPr>
          <p:cNvPr id="26" name="Text 24"/>
          <p:cNvSpPr/>
          <p:nvPr/>
        </p:nvSpPr>
        <p:spPr>
          <a:xfrm>
            <a:off x="2514600" y="2395728"/>
            <a:ext cx="1737360" cy="457200"/>
          </a:xfrm>
          <a:prstGeom prst="rect">
            <a:avLst/>
          </a:prstGeom>
          <a:noFill/>
          <a:ln/>
        </p:spPr>
        <p:txBody>
          <a:bodyPr wrap="square" rtlCol="0" anchor="ctr"/>
          <a:lstStyle/>
          <a:p>
            <a:pPr algn="ctr" indent="0" marL="0">
              <a:buNone/>
            </a:pPr>
            <a:r>
              <a:rPr lang="en-US" sz="2200" b="1" dirty="0">
                <a:solidFill>
                  <a:srgbClr val="E74C3C"/>
                </a:solidFill>
                <a:latin typeface="Calibri" pitchFamily="34" charset="0"/>
                <a:ea typeface="Calibri" pitchFamily="34" charset="-122"/>
                <a:cs typeface="Calibri" pitchFamily="34" charset="-120"/>
              </a:rPr>
              <a:t>27.08%</a:t>
            </a:r>
            <a:endParaRPr lang="en-US" sz="2200" dirty="0"/>
          </a:p>
        </p:txBody>
      </p:sp>
      <p:sp>
        <p:nvSpPr>
          <p:cNvPr id="27" name="Text 25"/>
          <p:cNvSpPr/>
          <p:nvPr/>
        </p:nvSpPr>
        <p:spPr>
          <a:xfrm>
            <a:off x="2514600" y="2834640"/>
            <a:ext cx="1737360" cy="274320"/>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Not Resolved</a:t>
            </a:r>
            <a:endParaRPr lang="en-US" sz="1000" dirty="0"/>
          </a:p>
        </p:txBody>
      </p:sp>
      <p:sp>
        <p:nvSpPr>
          <p:cNvPr id="28" name="Shape 26"/>
          <p:cNvSpPr/>
          <p:nvPr/>
        </p:nvSpPr>
        <p:spPr>
          <a:xfrm>
            <a:off x="4572000" y="2331720"/>
            <a:ext cx="1920240" cy="105156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9" name="Shape 27"/>
          <p:cNvSpPr/>
          <p:nvPr/>
        </p:nvSpPr>
        <p:spPr>
          <a:xfrm>
            <a:off x="4572000" y="2331720"/>
            <a:ext cx="64008" cy="1051560"/>
          </a:xfrm>
          <a:prstGeom prst="rect">
            <a:avLst/>
          </a:prstGeom>
          <a:solidFill>
            <a:srgbClr val="F5A623"/>
          </a:solidFill>
          <a:ln w="12700">
            <a:solidFill>
              <a:srgbClr val="F5A623"/>
            </a:solidFill>
            <a:prstDash val="solid"/>
          </a:ln>
        </p:spPr>
      </p:sp>
      <p:sp>
        <p:nvSpPr>
          <p:cNvPr id="30" name="Text 28"/>
          <p:cNvSpPr/>
          <p:nvPr/>
        </p:nvSpPr>
        <p:spPr>
          <a:xfrm>
            <a:off x="4663440" y="2395728"/>
            <a:ext cx="1737360" cy="457200"/>
          </a:xfrm>
          <a:prstGeom prst="rect">
            <a:avLst/>
          </a:prstGeom>
          <a:noFill/>
          <a:ln/>
        </p:spPr>
        <p:txBody>
          <a:bodyPr wrap="square" rtlCol="0" anchor="ctr"/>
          <a:lstStyle/>
          <a:p>
            <a:pPr algn="ctr" indent="0" marL="0">
              <a:buNone/>
            </a:pPr>
            <a:r>
              <a:rPr lang="en-US" sz="2200" b="1" dirty="0">
                <a:solidFill>
                  <a:srgbClr val="F5A623"/>
                </a:solidFill>
                <a:latin typeface="Calibri" pitchFamily="34" charset="0"/>
                <a:ea typeface="Calibri" pitchFamily="34" charset="-122"/>
                <a:cs typeface="Calibri" pitchFamily="34" charset="-120"/>
              </a:rPr>
              <a:t>49.90%</a:t>
            </a:r>
            <a:endParaRPr lang="en-US" sz="2200" dirty="0"/>
          </a:p>
        </p:txBody>
      </p:sp>
      <p:sp>
        <p:nvSpPr>
          <p:cNvPr id="31" name="Text 29"/>
          <p:cNvSpPr/>
          <p:nvPr/>
        </p:nvSpPr>
        <p:spPr>
          <a:xfrm>
            <a:off x="4663440" y="2834640"/>
            <a:ext cx="1737360" cy="274320"/>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CSAT Score</a:t>
            </a:r>
            <a:endParaRPr lang="en-US" sz="1000" dirty="0"/>
          </a:p>
        </p:txBody>
      </p:sp>
      <p:sp>
        <p:nvSpPr>
          <p:cNvPr id="32" name="Shape 30"/>
          <p:cNvSpPr/>
          <p:nvPr/>
        </p:nvSpPr>
        <p:spPr>
          <a:xfrm>
            <a:off x="6720840" y="2331720"/>
            <a:ext cx="1920240" cy="105156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6720840" y="2331720"/>
            <a:ext cx="64008" cy="1051560"/>
          </a:xfrm>
          <a:prstGeom prst="rect">
            <a:avLst/>
          </a:prstGeom>
          <a:solidFill>
            <a:srgbClr val="1B4F72"/>
          </a:solidFill>
          <a:ln w="12700">
            <a:solidFill>
              <a:srgbClr val="1B4F72"/>
            </a:solidFill>
            <a:prstDash val="solid"/>
          </a:ln>
        </p:spPr>
      </p:sp>
      <p:sp>
        <p:nvSpPr>
          <p:cNvPr id="34" name="Text 32"/>
          <p:cNvSpPr/>
          <p:nvPr/>
        </p:nvSpPr>
        <p:spPr>
          <a:xfrm>
            <a:off x="6812280" y="2395728"/>
            <a:ext cx="1737360" cy="457200"/>
          </a:xfrm>
          <a:prstGeom prst="rect">
            <a:avLst/>
          </a:prstGeom>
          <a:noFill/>
          <a:ln/>
        </p:spPr>
        <p:txBody>
          <a:bodyPr wrap="square" rtlCol="0" anchor="ctr"/>
          <a:lstStyle/>
          <a:p>
            <a:pPr algn="ctr" indent="0" marL="0">
              <a:buNone/>
            </a:pPr>
            <a:r>
              <a:rPr lang="en-US" sz="2200" b="1" dirty="0">
                <a:solidFill>
                  <a:srgbClr val="1B4F72"/>
                </a:solidFill>
                <a:latin typeface="Calibri" pitchFamily="34" charset="0"/>
                <a:ea typeface="Calibri" pitchFamily="34" charset="-122"/>
                <a:cs typeface="Calibri" pitchFamily="34" charset="-120"/>
              </a:rPr>
              <a:t>Martha</a:t>
            </a:r>
            <a:endParaRPr lang="en-US" sz="2200" dirty="0"/>
          </a:p>
        </p:txBody>
      </p:sp>
      <p:sp>
        <p:nvSpPr>
          <p:cNvPr id="35" name="Text 33"/>
          <p:cNvSpPr/>
          <p:nvPr/>
        </p:nvSpPr>
        <p:spPr>
          <a:xfrm>
            <a:off x="6812280" y="2834640"/>
            <a:ext cx="1737360" cy="274320"/>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Top Agent</a:t>
            </a:r>
            <a:endParaRPr lang="en-US" sz="1000" dirty="0"/>
          </a:p>
        </p:txBody>
      </p:sp>
      <p:sp>
        <p:nvSpPr>
          <p:cNvPr id="36" name="Shape 34"/>
          <p:cNvSpPr/>
          <p:nvPr/>
        </p:nvSpPr>
        <p:spPr>
          <a:xfrm>
            <a:off x="274320" y="3566160"/>
            <a:ext cx="8595360" cy="1325880"/>
          </a:xfrm>
          <a:prstGeom prst="rect">
            <a:avLst/>
          </a:prstGeom>
          <a:solidFill>
            <a:srgbClr val="D6EAF8"/>
          </a:solidFill>
          <a:ln w="12700">
            <a:solidFill>
              <a:srgbClr val="C5D9EC"/>
            </a:solidFill>
            <a:prstDash val="solid"/>
          </a:ln>
        </p:spPr>
      </p:sp>
      <p:sp>
        <p:nvSpPr>
          <p:cNvPr id="37" name="Text 35"/>
          <p:cNvSpPr/>
          <p:nvPr/>
        </p:nvSpPr>
        <p:spPr>
          <a:xfrm>
            <a:off x="457200" y="3639312"/>
            <a:ext cx="8229600" cy="320040"/>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Key Takeaway</a:t>
            </a:r>
            <a:endParaRPr lang="en-US" sz="1200" dirty="0"/>
          </a:p>
        </p:txBody>
      </p:sp>
      <p:sp>
        <p:nvSpPr>
          <p:cNvPr id="38" name="Text 36"/>
          <p:cNvSpPr/>
          <p:nvPr/>
        </p:nvSpPr>
        <p:spPr>
          <a:xfrm>
            <a:off x="457200" y="3931920"/>
            <a:ext cx="8321040" cy="868680"/>
          </a:xfrm>
          <a:prstGeom prst="rect">
            <a:avLst/>
          </a:prstGeom>
          <a:noFill/>
          <a:ln/>
        </p:spPr>
        <p:txBody>
          <a:bodyPr wrap="square" rtlCol="0" anchor="t"/>
          <a:lstStyle/>
          <a:p>
            <a:pPr algn="l" indent="0" marL="0">
              <a:buNone/>
            </a:pPr>
            <a:r>
              <a:rPr lang="en-US" sz="1050" dirty="0">
                <a:solidFill>
                  <a:srgbClr val="1C2833"/>
                </a:solidFill>
                <a:latin typeface="Calibri" pitchFamily="34" charset="0"/>
                <a:ea typeface="Calibri" pitchFamily="34" charset="-122"/>
                <a:cs typeface="Calibri" pitchFamily="34" charset="-120"/>
              </a:rPr>
              <a:t>In Q1 2021, the call center handled 5,000 total calls with an 81.1% answer rate across 8 agents. While resolution rates are healthy at 72.92%, the CSAT score of 49.90% indicates significant room for improvement in customer satisfaction. Agent Martha leads performance with a 52.72% CSAT, while Joe trails at 47.52%, highlighting a coaching opportunity to bring all agents closer to the top benchmark.</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02  |  Call Volume Overview</a:t>
            </a:r>
            <a:endParaRPr lang="en-US" sz="1800" dirty="0"/>
          </a:p>
        </p:txBody>
      </p:sp>
      <p:graphicFrame>
        <p:nvGraphicFramePr>
          <p:cNvPr id="4" name="Chart 0" descr=""/>
          <p:cNvGraphicFramePr/>
          <p:nvPr/>
        </p:nvGraphicFramePr>
        <p:xfrm>
          <a:off x="274320" y="777240"/>
          <a:ext cx="49377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0" y="777240"/>
          <a:ext cx="3383280" cy="29260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840480"/>
            <a:ext cx="150876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7" name="Shape 3"/>
          <p:cNvSpPr/>
          <p:nvPr/>
        </p:nvSpPr>
        <p:spPr>
          <a:xfrm>
            <a:off x="274320" y="3840480"/>
            <a:ext cx="64008" cy="1005840"/>
          </a:xfrm>
          <a:prstGeom prst="rect">
            <a:avLst/>
          </a:prstGeom>
          <a:solidFill>
            <a:srgbClr val="0D1F3C"/>
          </a:solidFill>
          <a:ln w="12700">
            <a:solidFill>
              <a:srgbClr val="0D1F3C"/>
            </a:solidFill>
            <a:prstDash val="solid"/>
          </a:ln>
        </p:spPr>
      </p:sp>
      <p:sp>
        <p:nvSpPr>
          <p:cNvPr id="8" name="Text 4"/>
          <p:cNvSpPr/>
          <p:nvPr/>
        </p:nvSpPr>
        <p:spPr>
          <a:xfrm>
            <a:off x="365760" y="3886200"/>
            <a:ext cx="1371600" cy="457200"/>
          </a:xfrm>
          <a:prstGeom prst="rect">
            <a:avLst/>
          </a:prstGeom>
          <a:noFill/>
          <a:ln/>
        </p:spPr>
        <p:txBody>
          <a:bodyPr wrap="square" rtlCol="0" anchor="ctr"/>
          <a:lstStyle/>
          <a:p>
            <a:pPr algn="ctr" indent="0" marL="0">
              <a:buNone/>
            </a:pPr>
            <a:r>
              <a:rPr lang="en-US" sz="1800" b="1" dirty="0">
                <a:solidFill>
                  <a:srgbClr val="0D1F3C"/>
                </a:solidFill>
                <a:latin typeface="Calibri" pitchFamily="34" charset="0"/>
                <a:ea typeface="Calibri" pitchFamily="34" charset="-122"/>
                <a:cs typeface="Calibri" pitchFamily="34" charset="-120"/>
              </a:rPr>
              <a:t>1,772</a:t>
            </a:r>
            <a:endParaRPr lang="en-US" sz="1800" dirty="0"/>
          </a:p>
        </p:txBody>
      </p:sp>
      <p:sp>
        <p:nvSpPr>
          <p:cNvPr id="9" name="Text 5"/>
          <p:cNvSpPr/>
          <p:nvPr/>
        </p:nvSpPr>
        <p:spPr>
          <a:xfrm>
            <a:off x="365760" y="4315968"/>
            <a:ext cx="1371600" cy="256032"/>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January</a:t>
            </a:r>
            <a:endParaRPr lang="en-US" sz="1000" dirty="0"/>
          </a:p>
        </p:txBody>
      </p:sp>
      <p:sp>
        <p:nvSpPr>
          <p:cNvPr id="10" name="Text 6"/>
          <p:cNvSpPr/>
          <p:nvPr/>
        </p:nvSpPr>
        <p:spPr>
          <a:xfrm>
            <a:off x="365760" y="4572000"/>
            <a:ext cx="1371600" cy="201168"/>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35.4% of total</a:t>
            </a:r>
            <a:endParaRPr lang="en-US" sz="900" dirty="0"/>
          </a:p>
        </p:txBody>
      </p:sp>
      <p:sp>
        <p:nvSpPr>
          <p:cNvPr id="11" name="Shape 7"/>
          <p:cNvSpPr/>
          <p:nvPr/>
        </p:nvSpPr>
        <p:spPr>
          <a:xfrm>
            <a:off x="1965960" y="3840480"/>
            <a:ext cx="150876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8"/>
          <p:cNvSpPr/>
          <p:nvPr/>
        </p:nvSpPr>
        <p:spPr>
          <a:xfrm>
            <a:off x="1965960" y="3840480"/>
            <a:ext cx="64008" cy="1005840"/>
          </a:xfrm>
          <a:prstGeom prst="rect">
            <a:avLst/>
          </a:prstGeom>
          <a:solidFill>
            <a:srgbClr val="1A7FA1"/>
          </a:solidFill>
          <a:ln w="12700">
            <a:solidFill>
              <a:srgbClr val="1A7FA1"/>
            </a:solidFill>
            <a:prstDash val="solid"/>
          </a:ln>
        </p:spPr>
      </p:sp>
      <p:sp>
        <p:nvSpPr>
          <p:cNvPr id="13" name="Text 9"/>
          <p:cNvSpPr/>
          <p:nvPr/>
        </p:nvSpPr>
        <p:spPr>
          <a:xfrm>
            <a:off x="2057400" y="3886200"/>
            <a:ext cx="1371600" cy="457200"/>
          </a:xfrm>
          <a:prstGeom prst="rect">
            <a:avLst/>
          </a:prstGeom>
          <a:noFill/>
          <a:ln/>
        </p:spPr>
        <p:txBody>
          <a:bodyPr wrap="square" rtlCol="0" anchor="ctr"/>
          <a:lstStyle/>
          <a:p>
            <a:pPr algn="ctr" indent="0" marL="0">
              <a:buNone/>
            </a:pPr>
            <a:r>
              <a:rPr lang="en-US" sz="1800" b="1" dirty="0">
                <a:solidFill>
                  <a:srgbClr val="1A7FA1"/>
                </a:solidFill>
                <a:latin typeface="Calibri" pitchFamily="34" charset="0"/>
                <a:ea typeface="Calibri" pitchFamily="34" charset="-122"/>
                <a:cs typeface="Calibri" pitchFamily="34" charset="-120"/>
              </a:rPr>
              <a:t>1,612</a:t>
            </a:r>
            <a:endParaRPr lang="en-US" sz="1800" dirty="0"/>
          </a:p>
        </p:txBody>
      </p:sp>
      <p:sp>
        <p:nvSpPr>
          <p:cNvPr id="14" name="Text 10"/>
          <p:cNvSpPr/>
          <p:nvPr/>
        </p:nvSpPr>
        <p:spPr>
          <a:xfrm>
            <a:off x="2057400" y="4315968"/>
            <a:ext cx="1371600" cy="256032"/>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February</a:t>
            </a:r>
            <a:endParaRPr lang="en-US" sz="1000" dirty="0"/>
          </a:p>
        </p:txBody>
      </p:sp>
      <p:sp>
        <p:nvSpPr>
          <p:cNvPr id="15" name="Text 11"/>
          <p:cNvSpPr/>
          <p:nvPr/>
        </p:nvSpPr>
        <p:spPr>
          <a:xfrm>
            <a:off x="2057400" y="4572000"/>
            <a:ext cx="1371600" cy="201168"/>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32.2% of total</a:t>
            </a:r>
            <a:endParaRPr lang="en-US" sz="900" dirty="0"/>
          </a:p>
        </p:txBody>
      </p:sp>
      <p:sp>
        <p:nvSpPr>
          <p:cNvPr id="16" name="Shape 12"/>
          <p:cNvSpPr/>
          <p:nvPr/>
        </p:nvSpPr>
        <p:spPr>
          <a:xfrm>
            <a:off x="3657600" y="3840480"/>
            <a:ext cx="1508760" cy="10058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3657600" y="3840480"/>
            <a:ext cx="64008" cy="1005840"/>
          </a:xfrm>
          <a:prstGeom prst="rect">
            <a:avLst/>
          </a:prstGeom>
          <a:solidFill>
            <a:srgbClr val="1B4F72"/>
          </a:solidFill>
          <a:ln w="12700">
            <a:solidFill>
              <a:srgbClr val="1B4F72"/>
            </a:solidFill>
            <a:prstDash val="solid"/>
          </a:ln>
        </p:spPr>
      </p:sp>
      <p:sp>
        <p:nvSpPr>
          <p:cNvPr id="18" name="Text 14"/>
          <p:cNvSpPr/>
          <p:nvPr/>
        </p:nvSpPr>
        <p:spPr>
          <a:xfrm>
            <a:off x="3749040" y="3886200"/>
            <a:ext cx="1371600" cy="457200"/>
          </a:xfrm>
          <a:prstGeom prst="rect">
            <a:avLst/>
          </a:prstGeom>
          <a:noFill/>
          <a:ln/>
        </p:spPr>
        <p:txBody>
          <a:bodyPr wrap="square" rtlCol="0" anchor="ctr"/>
          <a:lstStyle/>
          <a:p>
            <a:pPr algn="ctr" indent="0" marL="0">
              <a:buNone/>
            </a:pPr>
            <a:r>
              <a:rPr lang="en-US" sz="1800" b="1" dirty="0">
                <a:solidFill>
                  <a:srgbClr val="1B4F72"/>
                </a:solidFill>
                <a:latin typeface="Calibri" pitchFamily="34" charset="0"/>
                <a:ea typeface="Calibri" pitchFamily="34" charset="-122"/>
                <a:cs typeface="Calibri" pitchFamily="34" charset="-120"/>
              </a:rPr>
              <a:t>1,616</a:t>
            </a:r>
            <a:endParaRPr lang="en-US" sz="1800" dirty="0"/>
          </a:p>
        </p:txBody>
      </p:sp>
      <p:sp>
        <p:nvSpPr>
          <p:cNvPr id="19" name="Text 15"/>
          <p:cNvSpPr/>
          <p:nvPr/>
        </p:nvSpPr>
        <p:spPr>
          <a:xfrm>
            <a:off x="3749040" y="4315968"/>
            <a:ext cx="1371600" cy="256032"/>
          </a:xfrm>
          <a:prstGeom prst="rect">
            <a:avLst/>
          </a:prstGeom>
          <a:noFill/>
          <a:ln/>
        </p:spPr>
        <p:txBody>
          <a:bodyPr wrap="square" lIns="0" tIns="0" rIns="0" bIns="0" rtlCol="0" anchor="ctr"/>
          <a:lstStyle/>
          <a:p>
            <a:pPr algn="ctr" indent="0" marL="0">
              <a:buNone/>
            </a:pPr>
            <a:r>
              <a:rPr lang="en-US" sz="1000" dirty="0">
                <a:solidFill>
                  <a:srgbClr val="7F8C8D"/>
                </a:solidFill>
                <a:latin typeface="Calibri" pitchFamily="34" charset="0"/>
                <a:ea typeface="Calibri" pitchFamily="34" charset="-122"/>
                <a:cs typeface="Calibri" pitchFamily="34" charset="-120"/>
              </a:rPr>
              <a:t>March</a:t>
            </a:r>
            <a:endParaRPr lang="en-US" sz="1000" dirty="0"/>
          </a:p>
        </p:txBody>
      </p:sp>
      <p:sp>
        <p:nvSpPr>
          <p:cNvPr id="20" name="Text 16"/>
          <p:cNvSpPr/>
          <p:nvPr/>
        </p:nvSpPr>
        <p:spPr>
          <a:xfrm>
            <a:off x="3749040" y="4572000"/>
            <a:ext cx="1371600" cy="201168"/>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32.3% of total</a:t>
            </a:r>
            <a:endParaRPr lang="en-US" sz="900" dirty="0"/>
          </a:p>
        </p:txBody>
      </p:sp>
      <p:sp>
        <p:nvSpPr>
          <p:cNvPr id="21" name="Shape 17"/>
          <p:cNvSpPr/>
          <p:nvPr/>
        </p:nvSpPr>
        <p:spPr>
          <a:xfrm>
            <a:off x="5349240" y="3840480"/>
            <a:ext cx="3520440" cy="1005840"/>
          </a:xfrm>
          <a:prstGeom prst="rect">
            <a:avLst/>
          </a:prstGeom>
          <a:solidFill>
            <a:srgbClr val="D6EAF8"/>
          </a:solidFill>
          <a:ln w="12700">
            <a:solidFill>
              <a:srgbClr val="C5D9EC"/>
            </a:solidFill>
            <a:prstDash val="solid"/>
          </a:ln>
        </p:spPr>
      </p:sp>
      <p:sp>
        <p:nvSpPr>
          <p:cNvPr id="22" name="Text 18"/>
          <p:cNvSpPr/>
          <p:nvPr/>
        </p:nvSpPr>
        <p:spPr>
          <a:xfrm>
            <a:off x="5486400" y="3904488"/>
            <a:ext cx="3200400" cy="274320"/>
          </a:xfrm>
          <a:prstGeom prst="rect">
            <a:avLst/>
          </a:prstGeom>
          <a:noFill/>
          <a:ln/>
        </p:spPr>
        <p:txBody>
          <a:bodyPr wrap="square" lIns="0" tIns="0" rIns="0" bIns="0" rtlCol="0" anchor="ctr"/>
          <a:lstStyle/>
          <a:p>
            <a:pPr indent="0" marL="0">
              <a:buNone/>
            </a:pPr>
            <a:r>
              <a:rPr lang="en-US" sz="1100" b="1" dirty="0">
                <a:solidFill>
                  <a:srgbClr val="0D1F3C"/>
                </a:solidFill>
                <a:latin typeface="Calibri" pitchFamily="34" charset="0"/>
                <a:ea typeface="Calibri" pitchFamily="34" charset="-122"/>
                <a:cs typeface="Calibri" pitchFamily="34" charset="-120"/>
              </a:rPr>
              <a:t>📌  Insight</a:t>
            </a:r>
            <a:endParaRPr lang="en-US" sz="1100" dirty="0"/>
          </a:p>
        </p:txBody>
      </p:sp>
      <p:sp>
        <p:nvSpPr>
          <p:cNvPr id="23" name="Text 19"/>
          <p:cNvSpPr/>
          <p:nvPr/>
        </p:nvSpPr>
        <p:spPr>
          <a:xfrm>
            <a:off x="5486400" y="4160520"/>
            <a:ext cx="3246120" cy="640080"/>
          </a:xfrm>
          <a:prstGeom prst="rect">
            <a:avLst/>
          </a:prstGeom>
          <a:noFill/>
          <a:ln/>
        </p:spPr>
        <p:txBody>
          <a:bodyPr wrap="square" rtlCol="0" anchor="ctr"/>
          <a:lstStyle/>
          <a:p>
            <a:pPr indent="0" marL="0">
              <a:buNone/>
            </a:pPr>
            <a:r>
              <a:rPr lang="en-US" sz="950" dirty="0">
                <a:solidFill>
                  <a:srgbClr val="1C2833"/>
                </a:solidFill>
                <a:latin typeface="Calibri" pitchFamily="34" charset="0"/>
                <a:ea typeface="Calibri" pitchFamily="34" charset="-122"/>
                <a:cs typeface="Calibri" pitchFamily="34" charset="-120"/>
              </a:rPr>
              <a:t>January had the highest call volume at 1,772. Volume dipped in Feb &amp; Mar suggesting possible seasonality. 81.1% answer rate reflects solid capacity utilization.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03  |  Resolution Analysis</a:t>
            </a:r>
            <a:endParaRPr lang="en-US" sz="1800" dirty="0"/>
          </a:p>
        </p:txBody>
      </p:sp>
      <p:graphicFrame>
        <p:nvGraphicFramePr>
          <p:cNvPr id="4" name="Chart 0" descr=""/>
          <p:cNvGraphicFramePr/>
          <p:nvPr/>
        </p:nvGraphicFramePr>
        <p:xfrm>
          <a:off x="274320" y="777240"/>
          <a:ext cx="411480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777240"/>
          <a:ext cx="4297680" cy="27432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703320"/>
            <a:ext cx="2514600" cy="111556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7" name="Shape 3"/>
          <p:cNvSpPr/>
          <p:nvPr/>
        </p:nvSpPr>
        <p:spPr>
          <a:xfrm>
            <a:off x="274320" y="3703320"/>
            <a:ext cx="64008" cy="1115568"/>
          </a:xfrm>
          <a:prstGeom prst="rect">
            <a:avLst/>
          </a:prstGeom>
          <a:solidFill>
            <a:srgbClr val="27AE60"/>
          </a:solidFill>
          <a:ln w="12700">
            <a:solidFill>
              <a:srgbClr val="27AE60"/>
            </a:solidFill>
            <a:prstDash val="solid"/>
          </a:ln>
        </p:spPr>
      </p:sp>
      <p:sp>
        <p:nvSpPr>
          <p:cNvPr id="8" name="Text 4"/>
          <p:cNvSpPr/>
          <p:nvPr/>
        </p:nvSpPr>
        <p:spPr>
          <a:xfrm>
            <a:off x="384048" y="3749040"/>
            <a:ext cx="2286000" cy="457200"/>
          </a:xfrm>
          <a:prstGeom prst="rect">
            <a:avLst/>
          </a:prstGeom>
          <a:noFill/>
          <a:ln/>
        </p:spPr>
        <p:txBody>
          <a:bodyPr wrap="square" rtlCol="0" anchor="ctr"/>
          <a:lstStyle/>
          <a:p>
            <a:pPr algn="ctr" indent="0" marL="0">
              <a:buNone/>
            </a:pPr>
            <a:r>
              <a:rPr lang="en-US" sz="2000" b="1" dirty="0">
                <a:solidFill>
                  <a:srgbClr val="27AE60"/>
                </a:solidFill>
                <a:latin typeface="Calibri" pitchFamily="34" charset="0"/>
                <a:ea typeface="Calibri" pitchFamily="34" charset="-122"/>
                <a:cs typeface="Calibri" pitchFamily="34" charset="-120"/>
              </a:rPr>
              <a:t>3,646</a:t>
            </a:r>
            <a:endParaRPr lang="en-US" sz="2000" dirty="0"/>
          </a:p>
        </p:txBody>
      </p:sp>
      <p:sp>
        <p:nvSpPr>
          <p:cNvPr id="9" name="Text 5"/>
          <p:cNvSpPr/>
          <p:nvPr/>
        </p:nvSpPr>
        <p:spPr>
          <a:xfrm>
            <a:off x="384048" y="4178808"/>
            <a:ext cx="2286000" cy="274320"/>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72.92%</a:t>
            </a:r>
            <a:endParaRPr lang="en-US" sz="1100" dirty="0"/>
          </a:p>
        </p:txBody>
      </p:sp>
      <p:sp>
        <p:nvSpPr>
          <p:cNvPr id="10" name="Text 6"/>
          <p:cNvSpPr/>
          <p:nvPr/>
        </p:nvSpPr>
        <p:spPr>
          <a:xfrm>
            <a:off x="384048" y="4453128"/>
            <a:ext cx="2286000" cy="274320"/>
          </a:xfrm>
          <a:prstGeom prst="rect">
            <a:avLst/>
          </a:prstGeom>
          <a:noFill/>
          <a:ln/>
        </p:spPr>
        <p:txBody>
          <a:bodyPr wrap="square" lIns="0" tIns="0" rIns="0" bIns="0" rtlCol="0" anchor="ctr"/>
          <a:lstStyle/>
          <a:p>
            <a:pPr algn="ctr" indent="0" marL="0">
              <a:buNone/>
            </a:pPr>
            <a:r>
              <a:rPr lang="en-US" sz="950" dirty="0">
                <a:solidFill>
                  <a:srgbClr val="7F8C8D"/>
                </a:solidFill>
                <a:latin typeface="Calibri" pitchFamily="34" charset="0"/>
                <a:ea typeface="Calibri" pitchFamily="34" charset="-122"/>
                <a:cs typeface="Calibri" pitchFamily="34" charset="-120"/>
              </a:rPr>
              <a:t>Resolved Calls</a:t>
            </a:r>
            <a:endParaRPr lang="en-US" sz="950" dirty="0"/>
          </a:p>
        </p:txBody>
      </p:sp>
      <p:sp>
        <p:nvSpPr>
          <p:cNvPr id="11" name="Shape 7"/>
          <p:cNvSpPr/>
          <p:nvPr/>
        </p:nvSpPr>
        <p:spPr>
          <a:xfrm>
            <a:off x="3108960" y="3703320"/>
            <a:ext cx="2514600" cy="111556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8"/>
          <p:cNvSpPr/>
          <p:nvPr/>
        </p:nvSpPr>
        <p:spPr>
          <a:xfrm>
            <a:off x="3108960" y="3703320"/>
            <a:ext cx="64008" cy="1115568"/>
          </a:xfrm>
          <a:prstGeom prst="rect">
            <a:avLst/>
          </a:prstGeom>
          <a:solidFill>
            <a:srgbClr val="E74C3C"/>
          </a:solidFill>
          <a:ln w="12700">
            <a:solidFill>
              <a:srgbClr val="E74C3C"/>
            </a:solidFill>
            <a:prstDash val="solid"/>
          </a:ln>
        </p:spPr>
      </p:sp>
      <p:sp>
        <p:nvSpPr>
          <p:cNvPr id="13" name="Text 9"/>
          <p:cNvSpPr/>
          <p:nvPr/>
        </p:nvSpPr>
        <p:spPr>
          <a:xfrm>
            <a:off x="3218688" y="3749040"/>
            <a:ext cx="2286000" cy="457200"/>
          </a:xfrm>
          <a:prstGeom prst="rect">
            <a:avLst/>
          </a:prstGeom>
          <a:noFill/>
          <a:ln/>
        </p:spPr>
        <p:txBody>
          <a:bodyPr wrap="square" rtlCol="0" anchor="ctr"/>
          <a:lstStyle/>
          <a:p>
            <a:pPr algn="ctr" indent="0" marL="0">
              <a:buNone/>
            </a:pPr>
            <a:r>
              <a:rPr lang="en-US" sz="2000" b="1" dirty="0">
                <a:solidFill>
                  <a:srgbClr val="E74C3C"/>
                </a:solidFill>
                <a:latin typeface="Calibri" pitchFamily="34" charset="0"/>
                <a:ea typeface="Calibri" pitchFamily="34" charset="-122"/>
                <a:cs typeface="Calibri" pitchFamily="34" charset="-120"/>
              </a:rPr>
              <a:t>1,354</a:t>
            </a:r>
            <a:endParaRPr lang="en-US" sz="2000" dirty="0"/>
          </a:p>
        </p:txBody>
      </p:sp>
      <p:sp>
        <p:nvSpPr>
          <p:cNvPr id="14" name="Text 10"/>
          <p:cNvSpPr/>
          <p:nvPr/>
        </p:nvSpPr>
        <p:spPr>
          <a:xfrm>
            <a:off x="3218688" y="4178808"/>
            <a:ext cx="2286000" cy="274320"/>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27.08%</a:t>
            </a:r>
            <a:endParaRPr lang="en-US" sz="1100" dirty="0"/>
          </a:p>
        </p:txBody>
      </p:sp>
      <p:sp>
        <p:nvSpPr>
          <p:cNvPr id="15" name="Text 11"/>
          <p:cNvSpPr/>
          <p:nvPr/>
        </p:nvSpPr>
        <p:spPr>
          <a:xfrm>
            <a:off x="3218688" y="4453128"/>
            <a:ext cx="2286000" cy="274320"/>
          </a:xfrm>
          <a:prstGeom prst="rect">
            <a:avLst/>
          </a:prstGeom>
          <a:noFill/>
          <a:ln/>
        </p:spPr>
        <p:txBody>
          <a:bodyPr wrap="square" lIns="0" tIns="0" rIns="0" bIns="0" rtlCol="0" anchor="ctr"/>
          <a:lstStyle/>
          <a:p>
            <a:pPr algn="ctr" indent="0" marL="0">
              <a:buNone/>
            </a:pPr>
            <a:r>
              <a:rPr lang="en-US" sz="950" dirty="0">
                <a:solidFill>
                  <a:srgbClr val="7F8C8D"/>
                </a:solidFill>
                <a:latin typeface="Calibri" pitchFamily="34" charset="0"/>
                <a:ea typeface="Calibri" pitchFamily="34" charset="-122"/>
                <a:cs typeface="Calibri" pitchFamily="34" charset="-120"/>
              </a:rPr>
              <a:t>Not Resolved</a:t>
            </a:r>
            <a:endParaRPr lang="en-US" sz="950" dirty="0"/>
          </a:p>
        </p:txBody>
      </p:sp>
      <p:sp>
        <p:nvSpPr>
          <p:cNvPr id="16" name="Shape 12"/>
          <p:cNvSpPr/>
          <p:nvPr/>
        </p:nvSpPr>
        <p:spPr>
          <a:xfrm>
            <a:off x="5943600" y="3703320"/>
            <a:ext cx="2514600" cy="1115568"/>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5943600" y="3703320"/>
            <a:ext cx="64008" cy="1115568"/>
          </a:xfrm>
          <a:prstGeom prst="rect">
            <a:avLst/>
          </a:prstGeom>
          <a:solidFill>
            <a:srgbClr val="1A7FA1"/>
          </a:solidFill>
          <a:ln w="12700">
            <a:solidFill>
              <a:srgbClr val="1A7FA1"/>
            </a:solidFill>
            <a:prstDash val="solid"/>
          </a:ln>
        </p:spPr>
      </p:sp>
      <p:sp>
        <p:nvSpPr>
          <p:cNvPr id="18" name="Text 14"/>
          <p:cNvSpPr/>
          <p:nvPr/>
        </p:nvSpPr>
        <p:spPr>
          <a:xfrm>
            <a:off x="6053328" y="3749040"/>
            <a:ext cx="2286000" cy="457200"/>
          </a:xfrm>
          <a:prstGeom prst="rect">
            <a:avLst/>
          </a:prstGeom>
          <a:noFill/>
          <a:ln/>
        </p:spPr>
        <p:txBody>
          <a:bodyPr wrap="square" rtlCol="0" anchor="ctr"/>
          <a:lstStyle/>
          <a:p>
            <a:pPr algn="ctr" indent="0" marL="0">
              <a:buNone/>
            </a:pPr>
            <a:r>
              <a:rPr lang="en-US" sz="2000" b="1" dirty="0">
                <a:solidFill>
                  <a:srgbClr val="1A7FA1"/>
                </a:solidFill>
                <a:latin typeface="Calibri" pitchFamily="34" charset="0"/>
                <a:ea typeface="Calibri" pitchFamily="34" charset="-122"/>
                <a:cs typeface="Calibri" pitchFamily="34" charset="-120"/>
              </a:rPr>
              <a:t>Streaming</a:t>
            </a:r>
            <a:endParaRPr lang="en-US" sz="2000" dirty="0"/>
          </a:p>
        </p:txBody>
      </p:sp>
      <p:sp>
        <p:nvSpPr>
          <p:cNvPr id="19" name="Text 15"/>
          <p:cNvSpPr/>
          <p:nvPr/>
        </p:nvSpPr>
        <p:spPr>
          <a:xfrm>
            <a:off x="6053328" y="4178808"/>
            <a:ext cx="2286000" cy="274320"/>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1,022 calls</a:t>
            </a:r>
            <a:endParaRPr lang="en-US" sz="1100" dirty="0"/>
          </a:p>
        </p:txBody>
      </p:sp>
      <p:sp>
        <p:nvSpPr>
          <p:cNvPr id="20" name="Text 16"/>
          <p:cNvSpPr/>
          <p:nvPr/>
        </p:nvSpPr>
        <p:spPr>
          <a:xfrm>
            <a:off x="6053328" y="4453128"/>
            <a:ext cx="2286000" cy="274320"/>
          </a:xfrm>
          <a:prstGeom prst="rect">
            <a:avLst/>
          </a:prstGeom>
          <a:noFill/>
          <a:ln/>
        </p:spPr>
        <p:txBody>
          <a:bodyPr wrap="square" lIns="0" tIns="0" rIns="0" bIns="0" rtlCol="0" anchor="ctr"/>
          <a:lstStyle/>
          <a:p>
            <a:pPr algn="ctr" indent="0" marL="0">
              <a:buNone/>
            </a:pPr>
            <a:r>
              <a:rPr lang="en-US" sz="950" dirty="0">
                <a:solidFill>
                  <a:srgbClr val="7F8C8D"/>
                </a:solidFill>
                <a:latin typeface="Calibri" pitchFamily="34" charset="0"/>
                <a:ea typeface="Calibri" pitchFamily="34" charset="-122"/>
                <a:cs typeface="Calibri" pitchFamily="34" charset="-120"/>
              </a:rPr>
              <a:t>Top Topic</a:t>
            </a:r>
            <a:endParaRPr lang="en-US" sz="950" dirty="0"/>
          </a:p>
        </p:txBody>
      </p:sp>
      <p:sp>
        <p:nvSpPr>
          <p:cNvPr id="21" name="Shape 17"/>
          <p:cNvSpPr/>
          <p:nvPr/>
        </p:nvSpPr>
        <p:spPr>
          <a:xfrm>
            <a:off x="8641080" y="777240"/>
            <a:ext cx="228600" cy="0"/>
          </a:xfrm>
          <a:prstGeom prst="rect">
            <a:avLst/>
          </a:prstGeom>
          <a:solidFill>
            <a:srgbClr val="F4F7FA"/>
          </a:solidFill>
          <a:ln w="12700">
            <a:solidFill>
              <a:srgbClr val="F4F7FA"/>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03  |  Satisfaction Rating Distribution</a:t>
            </a:r>
            <a:endParaRPr lang="en-US" sz="1800" dirty="0"/>
          </a:p>
        </p:txBody>
      </p:sp>
      <p:graphicFrame>
        <p:nvGraphicFramePr>
          <p:cNvPr id="4" name="Chart 0" descr=""/>
          <p:cNvGraphicFramePr/>
          <p:nvPr/>
        </p:nvGraphicFramePr>
        <p:xfrm>
          <a:off x="274320" y="804672"/>
          <a:ext cx="539496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943600" y="822960"/>
            <a:ext cx="2926080" cy="320040"/>
          </a:xfrm>
          <a:prstGeom prst="rect">
            <a:avLst/>
          </a:prstGeom>
          <a:noFill/>
          <a:ln/>
        </p:spPr>
        <p:txBody>
          <a:bodyPr wrap="square" lIns="0" tIns="0" rIns="0" bIns="0"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Rating Breakdown</a:t>
            </a:r>
            <a:endParaRPr lang="en-US" sz="1300" dirty="0"/>
          </a:p>
        </p:txBody>
      </p:sp>
      <p:sp>
        <p:nvSpPr>
          <p:cNvPr id="6" name="Shape 3"/>
          <p:cNvSpPr/>
          <p:nvPr/>
        </p:nvSpPr>
        <p:spPr>
          <a:xfrm>
            <a:off x="5943600" y="1188720"/>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7" name="Shape 4"/>
          <p:cNvSpPr/>
          <p:nvPr/>
        </p:nvSpPr>
        <p:spPr>
          <a:xfrm>
            <a:off x="5943600" y="1188720"/>
            <a:ext cx="64008" cy="530352"/>
          </a:xfrm>
          <a:prstGeom prst="rect">
            <a:avLst/>
          </a:prstGeom>
          <a:solidFill>
            <a:srgbClr val="27AE60"/>
          </a:solidFill>
          <a:ln w="12700">
            <a:solidFill>
              <a:srgbClr val="27AE60"/>
            </a:solidFill>
            <a:prstDash val="solid"/>
          </a:ln>
        </p:spPr>
      </p:sp>
      <p:sp>
        <p:nvSpPr>
          <p:cNvPr id="8" name="Shape 5"/>
          <p:cNvSpPr/>
          <p:nvPr/>
        </p:nvSpPr>
        <p:spPr>
          <a:xfrm>
            <a:off x="6080760" y="1261872"/>
            <a:ext cx="347472" cy="347472"/>
          </a:xfrm>
          <a:prstGeom prst="ellipse">
            <a:avLst/>
          </a:prstGeom>
          <a:solidFill>
            <a:srgbClr val="27AE60"/>
          </a:solidFill>
          <a:ln w="12700">
            <a:solidFill>
              <a:srgbClr val="27AE60"/>
            </a:solidFill>
            <a:prstDash val="solid"/>
          </a:ln>
        </p:spPr>
      </p:sp>
      <p:sp>
        <p:nvSpPr>
          <p:cNvPr id="9" name="Text 6"/>
          <p:cNvSpPr/>
          <p:nvPr/>
        </p:nvSpPr>
        <p:spPr>
          <a:xfrm>
            <a:off x="6080760" y="1252728"/>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0" name="Text 7"/>
          <p:cNvSpPr/>
          <p:nvPr/>
        </p:nvSpPr>
        <p:spPr>
          <a:xfrm>
            <a:off x="6492240" y="1243584"/>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Very Satisfied</a:t>
            </a:r>
            <a:endParaRPr lang="en-US" sz="1000" dirty="0"/>
          </a:p>
        </p:txBody>
      </p:sp>
      <p:sp>
        <p:nvSpPr>
          <p:cNvPr id="11" name="Text 8"/>
          <p:cNvSpPr/>
          <p:nvPr/>
        </p:nvSpPr>
        <p:spPr>
          <a:xfrm>
            <a:off x="6492240" y="1463040"/>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1,180  ·  29.1%</a:t>
            </a:r>
            <a:endParaRPr lang="en-US" sz="900" dirty="0"/>
          </a:p>
        </p:txBody>
      </p:sp>
      <p:sp>
        <p:nvSpPr>
          <p:cNvPr id="12" name="Shape 9"/>
          <p:cNvSpPr/>
          <p:nvPr/>
        </p:nvSpPr>
        <p:spPr>
          <a:xfrm>
            <a:off x="5943600" y="1810512"/>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5943600" y="1810512"/>
            <a:ext cx="64008" cy="530352"/>
          </a:xfrm>
          <a:prstGeom prst="rect">
            <a:avLst/>
          </a:prstGeom>
          <a:solidFill>
            <a:srgbClr val="27AE60"/>
          </a:solidFill>
          <a:ln w="12700">
            <a:solidFill>
              <a:srgbClr val="27AE60"/>
            </a:solidFill>
            <a:prstDash val="solid"/>
          </a:ln>
        </p:spPr>
      </p:sp>
      <p:sp>
        <p:nvSpPr>
          <p:cNvPr id="14" name="Shape 11"/>
          <p:cNvSpPr/>
          <p:nvPr/>
        </p:nvSpPr>
        <p:spPr>
          <a:xfrm>
            <a:off x="6080760" y="1883664"/>
            <a:ext cx="347472" cy="347472"/>
          </a:xfrm>
          <a:prstGeom prst="ellipse">
            <a:avLst/>
          </a:prstGeom>
          <a:solidFill>
            <a:srgbClr val="27AE60"/>
          </a:solidFill>
          <a:ln w="12700">
            <a:solidFill>
              <a:srgbClr val="27AE60"/>
            </a:solidFill>
            <a:prstDash val="solid"/>
          </a:ln>
        </p:spPr>
      </p:sp>
      <p:sp>
        <p:nvSpPr>
          <p:cNvPr id="15" name="Text 12"/>
          <p:cNvSpPr/>
          <p:nvPr/>
        </p:nvSpPr>
        <p:spPr>
          <a:xfrm>
            <a:off x="6080760" y="1874520"/>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3"/>
          <p:cNvSpPr/>
          <p:nvPr/>
        </p:nvSpPr>
        <p:spPr>
          <a:xfrm>
            <a:off x="6492240" y="1865376"/>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Satisfied</a:t>
            </a:r>
            <a:endParaRPr lang="en-US" sz="1000" dirty="0"/>
          </a:p>
        </p:txBody>
      </p:sp>
      <p:sp>
        <p:nvSpPr>
          <p:cNvPr id="17" name="Text 14"/>
          <p:cNvSpPr/>
          <p:nvPr/>
        </p:nvSpPr>
        <p:spPr>
          <a:xfrm>
            <a:off x="6492240" y="2084832"/>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946  ·  23.3%</a:t>
            </a:r>
            <a:endParaRPr lang="en-US" sz="900" dirty="0"/>
          </a:p>
        </p:txBody>
      </p:sp>
      <p:sp>
        <p:nvSpPr>
          <p:cNvPr id="18" name="Shape 15"/>
          <p:cNvSpPr/>
          <p:nvPr/>
        </p:nvSpPr>
        <p:spPr>
          <a:xfrm>
            <a:off x="5943600" y="2432304"/>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9" name="Shape 16"/>
          <p:cNvSpPr/>
          <p:nvPr/>
        </p:nvSpPr>
        <p:spPr>
          <a:xfrm>
            <a:off x="5943600" y="2432304"/>
            <a:ext cx="64008" cy="530352"/>
          </a:xfrm>
          <a:prstGeom prst="rect">
            <a:avLst/>
          </a:prstGeom>
          <a:solidFill>
            <a:srgbClr val="F5A623"/>
          </a:solidFill>
          <a:ln w="12700">
            <a:solidFill>
              <a:srgbClr val="F5A623"/>
            </a:solidFill>
            <a:prstDash val="solid"/>
          </a:ln>
        </p:spPr>
      </p:sp>
      <p:sp>
        <p:nvSpPr>
          <p:cNvPr id="20" name="Shape 17"/>
          <p:cNvSpPr/>
          <p:nvPr/>
        </p:nvSpPr>
        <p:spPr>
          <a:xfrm>
            <a:off x="6080760" y="2505456"/>
            <a:ext cx="347472" cy="347472"/>
          </a:xfrm>
          <a:prstGeom prst="ellipse">
            <a:avLst/>
          </a:prstGeom>
          <a:solidFill>
            <a:srgbClr val="F5A623"/>
          </a:solidFill>
          <a:ln w="12700">
            <a:solidFill>
              <a:srgbClr val="F5A623"/>
            </a:solidFill>
            <a:prstDash val="solid"/>
          </a:ln>
        </p:spPr>
      </p:sp>
      <p:sp>
        <p:nvSpPr>
          <p:cNvPr id="21" name="Text 18"/>
          <p:cNvSpPr/>
          <p:nvPr/>
        </p:nvSpPr>
        <p:spPr>
          <a:xfrm>
            <a:off x="6080760" y="2496312"/>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6492240" y="2487168"/>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Neutral</a:t>
            </a:r>
            <a:endParaRPr lang="en-US" sz="1000" dirty="0"/>
          </a:p>
        </p:txBody>
      </p:sp>
      <p:sp>
        <p:nvSpPr>
          <p:cNvPr id="23" name="Text 20"/>
          <p:cNvSpPr/>
          <p:nvPr/>
        </p:nvSpPr>
        <p:spPr>
          <a:xfrm>
            <a:off x="6492240" y="2706624"/>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843  ·  20.8%</a:t>
            </a:r>
            <a:endParaRPr lang="en-US" sz="900" dirty="0"/>
          </a:p>
        </p:txBody>
      </p:sp>
      <p:sp>
        <p:nvSpPr>
          <p:cNvPr id="24" name="Shape 21"/>
          <p:cNvSpPr/>
          <p:nvPr/>
        </p:nvSpPr>
        <p:spPr>
          <a:xfrm>
            <a:off x="5943600" y="3054096"/>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2"/>
          <p:cNvSpPr/>
          <p:nvPr/>
        </p:nvSpPr>
        <p:spPr>
          <a:xfrm>
            <a:off x="5943600" y="3054096"/>
            <a:ext cx="64008" cy="530352"/>
          </a:xfrm>
          <a:prstGeom prst="rect">
            <a:avLst/>
          </a:prstGeom>
          <a:solidFill>
            <a:srgbClr val="E67E22"/>
          </a:solidFill>
          <a:ln w="12700">
            <a:solidFill>
              <a:srgbClr val="E67E22"/>
            </a:solidFill>
            <a:prstDash val="solid"/>
          </a:ln>
        </p:spPr>
      </p:sp>
      <p:sp>
        <p:nvSpPr>
          <p:cNvPr id="26" name="Shape 23"/>
          <p:cNvSpPr/>
          <p:nvPr/>
        </p:nvSpPr>
        <p:spPr>
          <a:xfrm>
            <a:off x="6080760" y="3127248"/>
            <a:ext cx="347472" cy="347472"/>
          </a:xfrm>
          <a:prstGeom prst="ellipse">
            <a:avLst/>
          </a:prstGeom>
          <a:solidFill>
            <a:srgbClr val="E67E22"/>
          </a:solidFill>
          <a:ln w="12700">
            <a:solidFill>
              <a:srgbClr val="E67E22"/>
            </a:solidFill>
            <a:prstDash val="solid"/>
          </a:ln>
        </p:spPr>
      </p:sp>
      <p:sp>
        <p:nvSpPr>
          <p:cNvPr id="27" name="Text 24"/>
          <p:cNvSpPr/>
          <p:nvPr/>
        </p:nvSpPr>
        <p:spPr>
          <a:xfrm>
            <a:off x="6080760" y="3118104"/>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5"/>
          <p:cNvSpPr/>
          <p:nvPr/>
        </p:nvSpPr>
        <p:spPr>
          <a:xfrm>
            <a:off x="6492240" y="3108960"/>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Dissatisfied</a:t>
            </a:r>
            <a:endParaRPr lang="en-US" sz="1000" dirty="0"/>
          </a:p>
        </p:txBody>
      </p:sp>
      <p:sp>
        <p:nvSpPr>
          <p:cNvPr id="29" name="Text 26"/>
          <p:cNvSpPr/>
          <p:nvPr/>
        </p:nvSpPr>
        <p:spPr>
          <a:xfrm>
            <a:off x="6492240" y="3328416"/>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417  ·  10.3%</a:t>
            </a:r>
            <a:endParaRPr lang="en-US" sz="900" dirty="0"/>
          </a:p>
        </p:txBody>
      </p:sp>
      <p:sp>
        <p:nvSpPr>
          <p:cNvPr id="30" name="Shape 27"/>
          <p:cNvSpPr/>
          <p:nvPr/>
        </p:nvSpPr>
        <p:spPr>
          <a:xfrm>
            <a:off x="5943600" y="3675888"/>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31" name="Shape 28"/>
          <p:cNvSpPr/>
          <p:nvPr/>
        </p:nvSpPr>
        <p:spPr>
          <a:xfrm>
            <a:off x="5943600" y="3675888"/>
            <a:ext cx="64008" cy="530352"/>
          </a:xfrm>
          <a:prstGeom prst="rect">
            <a:avLst/>
          </a:prstGeom>
          <a:solidFill>
            <a:srgbClr val="E74C3C"/>
          </a:solidFill>
          <a:ln w="12700">
            <a:solidFill>
              <a:srgbClr val="E74C3C"/>
            </a:solidFill>
            <a:prstDash val="solid"/>
          </a:ln>
        </p:spPr>
      </p:sp>
      <p:sp>
        <p:nvSpPr>
          <p:cNvPr id="32" name="Shape 29"/>
          <p:cNvSpPr/>
          <p:nvPr/>
        </p:nvSpPr>
        <p:spPr>
          <a:xfrm>
            <a:off x="6080760" y="3749040"/>
            <a:ext cx="347472" cy="347472"/>
          </a:xfrm>
          <a:prstGeom prst="ellipse">
            <a:avLst/>
          </a:prstGeom>
          <a:solidFill>
            <a:srgbClr val="E74C3C"/>
          </a:solidFill>
          <a:ln w="12700">
            <a:solidFill>
              <a:srgbClr val="E74C3C"/>
            </a:solidFill>
            <a:prstDash val="solid"/>
          </a:ln>
        </p:spPr>
      </p:sp>
      <p:sp>
        <p:nvSpPr>
          <p:cNvPr id="33" name="Text 30"/>
          <p:cNvSpPr/>
          <p:nvPr/>
        </p:nvSpPr>
        <p:spPr>
          <a:xfrm>
            <a:off x="6080760" y="3739896"/>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4" name="Text 31"/>
          <p:cNvSpPr/>
          <p:nvPr/>
        </p:nvSpPr>
        <p:spPr>
          <a:xfrm>
            <a:off x="6492240" y="3730752"/>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Very Dissatisfied</a:t>
            </a:r>
            <a:endParaRPr lang="en-US" sz="1000" dirty="0"/>
          </a:p>
        </p:txBody>
      </p:sp>
      <p:sp>
        <p:nvSpPr>
          <p:cNvPr id="35" name="Text 32"/>
          <p:cNvSpPr/>
          <p:nvPr/>
        </p:nvSpPr>
        <p:spPr>
          <a:xfrm>
            <a:off x="6492240" y="3950208"/>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396  ·  9.8%</a:t>
            </a:r>
            <a:endParaRPr lang="en-US" sz="900" dirty="0"/>
          </a:p>
        </p:txBody>
      </p:sp>
      <p:sp>
        <p:nvSpPr>
          <p:cNvPr id="36" name="Shape 33"/>
          <p:cNvSpPr/>
          <p:nvPr/>
        </p:nvSpPr>
        <p:spPr>
          <a:xfrm>
            <a:off x="5943600" y="4297680"/>
            <a:ext cx="2926080" cy="530352"/>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37" name="Shape 34"/>
          <p:cNvSpPr/>
          <p:nvPr/>
        </p:nvSpPr>
        <p:spPr>
          <a:xfrm>
            <a:off x="5943600" y="4297680"/>
            <a:ext cx="64008" cy="530352"/>
          </a:xfrm>
          <a:prstGeom prst="rect">
            <a:avLst/>
          </a:prstGeom>
          <a:solidFill>
            <a:srgbClr val="7F8C8D"/>
          </a:solidFill>
          <a:ln w="12700">
            <a:solidFill>
              <a:srgbClr val="7F8C8D"/>
            </a:solidFill>
            <a:prstDash val="solid"/>
          </a:ln>
        </p:spPr>
      </p:sp>
      <p:sp>
        <p:nvSpPr>
          <p:cNvPr id="38" name="Shape 35"/>
          <p:cNvSpPr/>
          <p:nvPr/>
        </p:nvSpPr>
        <p:spPr>
          <a:xfrm>
            <a:off x="6080760" y="4370832"/>
            <a:ext cx="347472" cy="347472"/>
          </a:xfrm>
          <a:prstGeom prst="ellipse">
            <a:avLst/>
          </a:prstGeom>
          <a:solidFill>
            <a:srgbClr val="7F8C8D"/>
          </a:solidFill>
          <a:ln w="12700">
            <a:solidFill>
              <a:srgbClr val="7F8C8D"/>
            </a:solidFill>
            <a:prstDash val="solid"/>
          </a:ln>
        </p:spPr>
      </p:sp>
      <p:sp>
        <p:nvSpPr>
          <p:cNvPr id="39" name="Text 36"/>
          <p:cNvSpPr/>
          <p:nvPr/>
        </p:nvSpPr>
        <p:spPr>
          <a:xfrm>
            <a:off x="6080760" y="4361688"/>
            <a:ext cx="347472" cy="34747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a:t>
            </a:r>
            <a:endParaRPr lang="en-US" sz="1200" dirty="0"/>
          </a:p>
        </p:txBody>
      </p:sp>
      <p:sp>
        <p:nvSpPr>
          <p:cNvPr id="40" name="Text 37"/>
          <p:cNvSpPr/>
          <p:nvPr/>
        </p:nvSpPr>
        <p:spPr>
          <a:xfrm>
            <a:off x="6492240" y="4352544"/>
            <a:ext cx="1554480" cy="228600"/>
          </a:xfrm>
          <a:prstGeom prst="rect">
            <a:avLst/>
          </a:prstGeom>
          <a:noFill/>
          <a:ln/>
        </p:spPr>
        <p:txBody>
          <a:bodyPr wrap="square" lIns="0" tIns="0" rIns="0" bIns="0" rtlCol="0" anchor="ctr"/>
          <a:lstStyle/>
          <a:p>
            <a:pPr indent="0" marL="0">
              <a:buNone/>
            </a:pPr>
            <a:r>
              <a:rPr lang="en-US" sz="1000" b="1" dirty="0">
                <a:solidFill>
                  <a:srgbClr val="0D1F3C"/>
                </a:solidFill>
                <a:latin typeface="Calibri" pitchFamily="34" charset="0"/>
                <a:ea typeface="Calibri" pitchFamily="34" charset="-122"/>
                <a:cs typeface="Calibri" pitchFamily="34" charset="-120"/>
              </a:rPr>
              <a:t>No Rating</a:t>
            </a:r>
            <a:endParaRPr lang="en-US" sz="1000" dirty="0"/>
          </a:p>
        </p:txBody>
      </p:sp>
      <p:sp>
        <p:nvSpPr>
          <p:cNvPr id="41" name="Text 38"/>
          <p:cNvSpPr/>
          <p:nvPr/>
        </p:nvSpPr>
        <p:spPr>
          <a:xfrm>
            <a:off x="6492240" y="4572000"/>
            <a:ext cx="2103120" cy="201168"/>
          </a:xfrm>
          <a:prstGeom prst="rect">
            <a:avLst/>
          </a:prstGeom>
          <a:noFill/>
          <a:ln/>
        </p:spPr>
        <p:txBody>
          <a:bodyPr wrap="square" lIns="0" tIns="0" rIns="0" bIns="0" rtlCol="0" anchor="ctr"/>
          <a:lstStyle/>
          <a:p>
            <a:pPr indent="0" marL="0">
              <a:buNone/>
            </a:pPr>
            <a:r>
              <a:rPr lang="en-US" sz="900" dirty="0">
                <a:solidFill>
                  <a:srgbClr val="7F8C8D"/>
                </a:solidFill>
                <a:latin typeface="Calibri" pitchFamily="34" charset="0"/>
                <a:ea typeface="Calibri" pitchFamily="34" charset="-122"/>
                <a:cs typeface="Calibri" pitchFamily="34" charset="-120"/>
              </a:rPr>
              <a:t>1218  ·  N/A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04  |  Agent Performance — Call Duration</a:t>
            </a:r>
            <a:endParaRPr lang="en-US" sz="1800" dirty="0"/>
          </a:p>
        </p:txBody>
      </p:sp>
      <p:graphicFrame>
        <p:nvGraphicFramePr>
          <p:cNvPr id="4" name="Chart 0" descr=""/>
          <p:cNvGraphicFramePr/>
          <p:nvPr/>
        </p:nvGraphicFramePr>
        <p:xfrm>
          <a:off x="274320" y="804672"/>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126480" y="841248"/>
            <a:ext cx="2743200" cy="292608"/>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Top Performers</a:t>
            </a:r>
            <a:endParaRPr lang="en-US" sz="1200" dirty="0"/>
          </a:p>
        </p:txBody>
      </p:sp>
      <p:sp>
        <p:nvSpPr>
          <p:cNvPr id="6" name="Shape 3"/>
          <p:cNvSpPr/>
          <p:nvPr/>
        </p:nvSpPr>
        <p:spPr>
          <a:xfrm>
            <a:off x="6126480" y="1188720"/>
            <a:ext cx="2743200" cy="7315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7" name="Shape 4"/>
          <p:cNvSpPr/>
          <p:nvPr/>
        </p:nvSpPr>
        <p:spPr>
          <a:xfrm>
            <a:off x="6126480" y="1188720"/>
            <a:ext cx="64008" cy="731520"/>
          </a:xfrm>
          <a:prstGeom prst="rect">
            <a:avLst/>
          </a:prstGeom>
          <a:solidFill>
            <a:srgbClr val="F5A623"/>
          </a:solidFill>
          <a:ln w="12700">
            <a:solidFill>
              <a:srgbClr val="F5A623"/>
            </a:solidFill>
            <a:prstDash val="solid"/>
          </a:ln>
        </p:spPr>
      </p:sp>
      <p:sp>
        <p:nvSpPr>
          <p:cNvPr id="8" name="Text 5"/>
          <p:cNvSpPr/>
          <p:nvPr/>
        </p:nvSpPr>
        <p:spPr>
          <a:xfrm>
            <a:off x="6217920" y="1261872"/>
            <a:ext cx="640080" cy="256032"/>
          </a:xfrm>
          <a:prstGeom prst="rect">
            <a:avLst/>
          </a:prstGeom>
          <a:noFill/>
          <a:ln/>
        </p:spPr>
        <p:txBody>
          <a:bodyPr wrap="square" lIns="0" tIns="0" rIns="0" bIns="0" rtlCol="0" anchor="ctr"/>
          <a:lstStyle/>
          <a:p>
            <a:pPr indent="0" marL="0">
              <a:buNone/>
            </a:pPr>
            <a:r>
              <a:rPr lang="en-US" sz="1000" b="1" dirty="0">
                <a:solidFill>
                  <a:srgbClr val="F5A623"/>
                </a:solidFill>
                <a:latin typeface="Calibri" pitchFamily="34" charset="0"/>
                <a:ea typeface="Calibri" pitchFamily="34" charset="-122"/>
                <a:cs typeface="Calibri" pitchFamily="34" charset="-120"/>
              </a:rPr>
              <a:t>#1</a:t>
            </a:r>
            <a:endParaRPr lang="en-US" sz="1000" dirty="0"/>
          </a:p>
        </p:txBody>
      </p:sp>
      <p:sp>
        <p:nvSpPr>
          <p:cNvPr id="9" name="Text 6"/>
          <p:cNvSpPr/>
          <p:nvPr/>
        </p:nvSpPr>
        <p:spPr>
          <a:xfrm>
            <a:off x="6720840" y="1252728"/>
            <a:ext cx="1371600" cy="274320"/>
          </a:xfrm>
          <a:prstGeom prst="rect">
            <a:avLst/>
          </a:prstGeom>
          <a:noFill/>
          <a:ln/>
        </p:spPr>
        <p:txBody>
          <a:bodyPr wrap="square" lIns="0" tIns="0" rIns="0" bIns="0"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Jim</a:t>
            </a:r>
            <a:endParaRPr lang="en-US" sz="1300" dirty="0"/>
          </a:p>
        </p:txBody>
      </p:sp>
      <p:sp>
        <p:nvSpPr>
          <p:cNvPr id="10" name="Text 7"/>
          <p:cNvSpPr/>
          <p:nvPr/>
        </p:nvSpPr>
        <p:spPr>
          <a:xfrm>
            <a:off x="6720840" y="1572768"/>
            <a:ext cx="1920240" cy="228600"/>
          </a:xfrm>
          <a:prstGeom prst="rect">
            <a:avLst/>
          </a:prstGeom>
          <a:noFill/>
          <a:ln/>
        </p:spPr>
        <p:txBody>
          <a:bodyPr wrap="square" lIns="0" tIns="0" rIns="0" bIns="0" rtlCol="0" anchor="ctr"/>
          <a:lstStyle/>
          <a:p>
            <a:pPr indent="0" marL="0">
              <a:buNone/>
            </a:pPr>
            <a:r>
              <a:rPr lang="en-US" sz="1000" dirty="0">
                <a:solidFill>
                  <a:srgbClr val="7F8C8D"/>
                </a:solidFill>
                <a:latin typeface="Calibri" pitchFamily="34" charset="0"/>
                <a:ea typeface="Calibri" pitchFamily="34" charset="-122"/>
                <a:cs typeface="Calibri" pitchFamily="34" charset="-120"/>
              </a:rPr>
              <a:t>84.91 min avg</a:t>
            </a:r>
            <a:endParaRPr lang="en-US" sz="1000" dirty="0"/>
          </a:p>
        </p:txBody>
      </p:sp>
      <p:sp>
        <p:nvSpPr>
          <p:cNvPr id="11" name="Shape 8"/>
          <p:cNvSpPr/>
          <p:nvPr/>
        </p:nvSpPr>
        <p:spPr>
          <a:xfrm>
            <a:off x="6126480" y="2057400"/>
            <a:ext cx="2743200" cy="7315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9"/>
          <p:cNvSpPr/>
          <p:nvPr/>
        </p:nvSpPr>
        <p:spPr>
          <a:xfrm>
            <a:off x="6126480" y="2057400"/>
            <a:ext cx="64008" cy="731520"/>
          </a:xfrm>
          <a:prstGeom prst="rect">
            <a:avLst/>
          </a:prstGeom>
          <a:solidFill>
            <a:srgbClr val="1A7FA1"/>
          </a:solidFill>
          <a:ln w="12700">
            <a:solidFill>
              <a:srgbClr val="1A7FA1"/>
            </a:solidFill>
            <a:prstDash val="solid"/>
          </a:ln>
        </p:spPr>
      </p:sp>
      <p:sp>
        <p:nvSpPr>
          <p:cNvPr id="13" name="Text 10"/>
          <p:cNvSpPr/>
          <p:nvPr/>
        </p:nvSpPr>
        <p:spPr>
          <a:xfrm>
            <a:off x="6217920" y="2130552"/>
            <a:ext cx="640080" cy="256032"/>
          </a:xfrm>
          <a:prstGeom prst="rect">
            <a:avLst/>
          </a:prstGeom>
          <a:noFill/>
          <a:ln/>
        </p:spPr>
        <p:txBody>
          <a:bodyPr wrap="square" lIns="0" tIns="0" rIns="0" bIns="0" rtlCol="0" anchor="ctr"/>
          <a:lstStyle/>
          <a:p>
            <a:pPr indent="0" marL="0">
              <a:buNone/>
            </a:pPr>
            <a:r>
              <a:rPr lang="en-US" sz="1000" b="1" dirty="0">
                <a:solidFill>
                  <a:srgbClr val="1A7FA1"/>
                </a:solidFill>
                <a:latin typeface="Calibri" pitchFamily="34" charset="0"/>
                <a:ea typeface="Calibri" pitchFamily="34" charset="-122"/>
                <a:cs typeface="Calibri" pitchFamily="34" charset="-120"/>
              </a:rPr>
              <a:t>#2</a:t>
            </a:r>
            <a:endParaRPr lang="en-US" sz="1000" dirty="0"/>
          </a:p>
        </p:txBody>
      </p:sp>
      <p:sp>
        <p:nvSpPr>
          <p:cNvPr id="14" name="Text 11"/>
          <p:cNvSpPr/>
          <p:nvPr/>
        </p:nvSpPr>
        <p:spPr>
          <a:xfrm>
            <a:off x="6720840" y="2121408"/>
            <a:ext cx="1371600" cy="274320"/>
          </a:xfrm>
          <a:prstGeom prst="rect">
            <a:avLst/>
          </a:prstGeom>
          <a:noFill/>
          <a:ln/>
        </p:spPr>
        <p:txBody>
          <a:bodyPr wrap="square" lIns="0" tIns="0" rIns="0" bIns="0"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Dan</a:t>
            </a:r>
            <a:endParaRPr lang="en-US" sz="1300" dirty="0"/>
          </a:p>
        </p:txBody>
      </p:sp>
      <p:sp>
        <p:nvSpPr>
          <p:cNvPr id="15" name="Text 12"/>
          <p:cNvSpPr/>
          <p:nvPr/>
        </p:nvSpPr>
        <p:spPr>
          <a:xfrm>
            <a:off x="6720840" y="2441448"/>
            <a:ext cx="1920240" cy="228600"/>
          </a:xfrm>
          <a:prstGeom prst="rect">
            <a:avLst/>
          </a:prstGeom>
          <a:noFill/>
          <a:ln/>
        </p:spPr>
        <p:txBody>
          <a:bodyPr wrap="square" lIns="0" tIns="0" rIns="0" bIns="0" rtlCol="0" anchor="ctr"/>
          <a:lstStyle/>
          <a:p>
            <a:pPr indent="0" marL="0">
              <a:buNone/>
            </a:pPr>
            <a:r>
              <a:rPr lang="en-US" sz="1000" dirty="0">
                <a:solidFill>
                  <a:srgbClr val="7F8C8D"/>
                </a:solidFill>
                <a:latin typeface="Calibri" pitchFamily="34" charset="0"/>
                <a:ea typeface="Calibri" pitchFamily="34" charset="-122"/>
                <a:cs typeface="Calibri" pitchFamily="34" charset="-120"/>
              </a:rPr>
              <a:t>83.97 min avg</a:t>
            </a:r>
            <a:endParaRPr lang="en-US" sz="1000" dirty="0"/>
          </a:p>
        </p:txBody>
      </p:sp>
      <p:sp>
        <p:nvSpPr>
          <p:cNvPr id="16" name="Shape 13"/>
          <p:cNvSpPr/>
          <p:nvPr/>
        </p:nvSpPr>
        <p:spPr>
          <a:xfrm>
            <a:off x="6126480" y="2926080"/>
            <a:ext cx="2743200" cy="7315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6126480" y="2926080"/>
            <a:ext cx="64008" cy="731520"/>
          </a:xfrm>
          <a:prstGeom prst="rect">
            <a:avLst/>
          </a:prstGeom>
          <a:solidFill>
            <a:srgbClr val="1B4F72"/>
          </a:solidFill>
          <a:ln w="12700">
            <a:solidFill>
              <a:srgbClr val="1B4F72"/>
            </a:solidFill>
            <a:prstDash val="solid"/>
          </a:ln>
        </p:spPr>
      </p:sp>
      <p:sp>
        <p:nvSpPr>
          <p:cNvPr id="18" name="Text 15"/>
          <p:cNvSpPr/>
          <p:nvPr/>
        </p:nvSpPr>
        <p:spPr>
          <a:xfrm>
            <a:off x="6217920" y="2999232"/>
            <a:ext cx="640080" cy="256032"/>
          </a:xfrm>
          <a:prstGeom prst="rect">
            <a:avLst/>
          </a:prstGeom>
          <a:noFill/>
          <a:ln/>
        </p:spPr>
        <p:txBody>
          <a:bodyPr wrap="square" lIns="0" tIns="0" rIns="0" bIns="0" rtlCol="0" anchor="ctr"/>
          <a:lstStyle/>
          <a:p>
            <a:pPr indent="0" marL="0">
              <a:buNone/>
            </a:pPr>
            <a:r>
              <a:rPr lang="en-US" sz="1000" b="1" dirty="0">
                <a:solidFill>
                  <a:srgbClr val="1B4F72"/>
                </a:solidFill>
                <a:latin typeface="Calibri" pitchFamily="34" charset="0"/>
                <a:ea typeface="Calibri" pitchFamily="34" charset="-122"/>
                <a:cs typeface="Calibri" pitchFamily="34" charset="-120"/>
              </a:rPr>
              <a:t>#3</a:t>
            </a:r>
            <a:endParaRPr lang="en-US" sz="1000" dirty="0"/>
          </a:p>
        </p:txBody>
      </p:sp>
      <p:sp>
        <p:nvSpPr>
          <p:cNvPr id="19" name="Text 16"/>
          <p:cNvSpPr/>
          <p:nvPr/>
        </p:nvSpPr>
        <p:spPr>
          <a:xfrm>
            <a:off x="6720840" y="2990088"/>
            <a:ext cx="1371600" cy="274320"/>
          </a:xfrm>
          <a:prstGeom prst="rect">
            <a:avLst/>
          </a:prstGeom>
          <a:noFill/>
          <a:ln/>
        </p:spPr>
        <p:txBody>
          <a:bodyPr wrap="square" lIns="0" tIns="0" rIns="0" bIns="0"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Martha</a:t>
            </a:r>
            <a:endParaRPr lang="en-US" sz="1300" dirty="0"/>
          </a:p>
        </p:txBody>
      </p:sp>
      <p:sp>
        <p:nvSpPr>
          <p:cNvPr id="20" name="Text 17"/>
          <p:cNvSpPr/>
          <p:nvPr/>
        </p:nvSpPr>
        <p:spPr>
          <a:xfrm>
            <a:off x="6720840" y="3310128"/>
            <a:ext cx="1920240" cy="228600"/>
          </a:xfrm>
          <a:prstGeom prst="rect">
            <a:avLst/>
          </a:prstGeom>
          <a:noFill/>
          <a:ln/>
        </p:spPr>
        <p:txBody>
          <a:bodyPr wrap="square" lIns="0" tIns="0" rIns="0" bIns="0" rtlCol="0" anchor="ctr"/>
          <a:lstStyle/>
          <a:p>
            <a:pPr indent="0" marL="0">
              <a:buNone/>
            </a:pPr>
            <a:r>
              <a:rPr lang="en-US" sz="1000" dirty="0">
                <a:solidFill>
                  <a:srgbClr val="7F8C8D"/>
                </a:solidFill>
                <a:latin typeface="Calibri" pitchFamily="34" charset="0"/>
                <a:ea typeface="Calibri" pitchFamily="34" charset="-122"/>
                <a:cs typeface="Calibri" pitchFamily="34" charset="-120"/>
              </a:rPr>
              <a:t>79.86 min avg</a:t>
            </a:r>
            <a:endParaRPr lang="en-US" sz="1000" dirty="0"/>
          </a:p>
        </p:txBody>
      </p:sp>
      <p:sp>
        <p:nvSpPr>
          <p:cNvPr id="21" name="Shape 18"/>
          <p:cNvSpPr/>
          <p:nvPr/>
        </p:nvSpPr>
        <p:spPr>
          <a:xfrm>
            <a:off x="6126480" y="3794760"/>
            <a:ext cx="2743200" cy="73152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2" name="Shape 19"/>
          <p:cNvSpPr/>
          <p:nvPr/>
        </p:nvSpPr>
        <p:spPr>
          <a:xfrm>
            <a:off x="6126480" y="3794760"/>
            <a:ext cx="64008" cy="731520"/>
          </a:xfrm>
          <a:prstGeom prst="rect">
            <a:avLst/>
          </a:prstGeom>
          <a:solidFill>
            <a:srgbClr val="7F8C8D"/>
          </a:solidFill>
          <a:ln w="12700">
            <a:solidFill>
              <a:srgbClr val="7F8C8D"/>
            </a:solidFill>
            <a:prstDash val="solid"/>
          </a:ln>
        </p:spPr>
      </p:sp>
      <p:sp>
        <p:nvSpPr>
          <p:cNvPr id="23" name="Text 20"/>
          <p:cNvSpPr/>
          <p:nvPr/>
        </p:nvSpPr>
        <p:spPr>
          <a:xfrm>
            <a:off x="6217920" y="3867912"/>
            <a:ext cx="640080" cy="256032"/>
          </a:xfrm>
          <a:prstGeom prst="rect">
            <a:avLst/>
          </a:prstGeom>
          <a:noFill/>
          <a:ln/>
        </p:spPr>
        <p:txBody>
          <a:bodyPr wrap="square" lIns="0" tIns="0" rIns="0" bIns="0" rtlCol="0" anchor="ctr"/>
          <a:lstStyle/>
          <a:p>
            <a:pPr indent="0" marL="0">
              <a:buNone/>
            </a:pPr>
            <a:r>
              <a:rPr lang="en-US" sz="1000" b="1" dirty="0">
                <a:solidFill>
                  <a:srgbClr val="7F8C8D"/>
                </a:solidFill>
                <a:latin typeface="Calibri" pitchFamily="34" charset="0"/>
                <a:ea typeface="Calibri" pitchFamily="34" charset="-122"/>
                <a:cs typeface="Calibri" pitchFamily="34" charset="-120"/>
              </a:rPr>
              <a:t>Lowest</a:t>
            </a:r>
            <a:endParaRPr lang="en-US" sz="1000" dirty="0"/>
          </a:p>
        </p:txBody>
      </p:sp>
      <p:sp>
        <p:nvSpPr>
          <p:cNvPr id="24" name="Text 21"/>
          <p:cNvSpPr/>
          <p:nvPr/>
        </p:nvSpPr>
        <p:spPr>
          <a:xfrm>
            <a:off x="6720840" y="3858768"/>
            <a:ext cx="1371600" cy="274320"/>
          </a:xfrm>
          <a:prstGeom prst="rect">
            <a:avLst/>
          </a:prstGeom>
          <a:noFill/>
          <a:ln/>
        </p:spPr>
        <p:txBody>
          <a:bodyPr wrap="square" lIns="0" tIns="0" rIns="0" bIns="0" rtlCol="0" anchor="ctr"/>
          <a:lstStyle/>
          <a:p>
            <a:pPr indent="0" marL="0">
              <a:buNone/>
            </a:pPr>
            <a:r>
              <a:rPr lang="en-US" sz="1300" b="1" dirty="0">
                <a:solidFill>
                  <a:srgbClr val="0D1F3C"/>
                </a:solidFill>
                <a:latin typeface="Calibri" pitchFamily="34" charset="0"/>
                <a:ea typeface="Calibri" pitchFamily="34" charset="-122"/>
                <a:cs typeface="Calibri" pitchFamily="34" charset="-120"/>
              </a:rPr>
              <a:t>Stewart</a:t>
            </a:r>
            <a:endParaRPr lang="en-US" sz="1300" dirty="0"/>
          </a:p>
        </p:txBody>
      </p:sp>
      <p:sp>
        <p:nvSpPr>
          <p:cNvPr id="25" name="Text 22"/>
          <p:cNvSpPr/>
          <p:nvPr/>
        </p:nvSpPr>
        <p:spPr>
          <a:xfrm>
            <a:off x="6720840" y="4178808"/>
            <a:ext cx="1920240" cy="228600"/>
          </a:xfrm>
          <a:prstGeom prst="rect">
            <a:avLst/>
          </a:prstGeom>
          <a:noFill/>
          <a:ln/>
        </p:spPr>
        <p:txBody>
          <a:bodyPr wrap="square" lIns="0" tIns="0" rIns="0" bIns="0" rtlCol="0" anchor="ctr"/>
          <a:lstStyle/>
          <a:p>
            <a:pPr indent="0" marL="0">
              <a:buNone/>
            </a:pPr>
            <a:r>
              <a:rPr lang="en-US" sz="1000" dirty="0">
                <a:solidFill>
                  <a:srgbClr val="7F8C8D"/>
                </a:solidFill>
                <a:latin typeface="Calibri" pitchFamily="34" charset="0"/>
                <a:ea typeface="Calibri" pitchFamily="34" charset="-122"/>
                <a:cs typeface="Calibri" pitchFamily="34" charset="-120"/>
              </a:rPr>
              <a:t>74.93 min avg</a:t>
            </a:r>
            <a:endParaRPr lang="en-US" sz="1000" dirty="0"/>
          </a:p>
        </p:txBody>
      </p:sp>
      <p:sp>
        <p:nvSpPr>
          <p:cNvPr id="26" name="Shape 23"/>
          <p:cNvSpPr/>
          <p:nvPr/>
        </p:nvSpPr>
        <p:spPr>
          <a:xfrm>
            <a:off x="274320" y="4023360"/>
            <a:ext cx="8595360" cy="822960"/>
          </a:xfrm>
          <a:prstGeom prst="rect">
            <a:avLst/>
          </a:prstGeom>
          <a:solidFill>
            <a:srgbClr val="D6EAF8"/>
          </a:solidFill>
          <a:ln w="12700">
            <a:solidFill>
              <a:srgbClr val="C5D9EC"/>
            </a:solidFill>
            <a:prstDash val="solid"/>
          </a:ln>
        </p:spPr>
      </p:sp>
      <p:sp>
        <p:nvSpPr>
          <p:cNvPr id="27" name="Text 24"/>
          <p:cNvSpPr/>
          <p:nvPr/>
        </p:nvSpPr>
        <p:spPr>
          <a:xfrm>
            <a:off x="457200" y="4069080"/>
            <a:ext cx="8321040" cy="749808"/>
          </a:xfrm>
          <a:prstGeom prst="rect">
            <a:avLst/>
          </a:prstGeom>
          <a:noFill/>
          <a:ln/>
        </p:spPr>
        <p:txBody>
          <a:bodyPr wrap="square" rtlCol="0" anchor="ctr"/>
          <a:lstStyle/>
          <a:p>
            <a:pPr indent="0" marL="0">
              <a:buNone/>
            </a:pPr>
            <a:r>
              <a:rPr lang="en-US" sz="1000" dirty="0">
                <a:solidFill>
                  <a:srgbClr val="1C2833"/>
                </a:solidFill>
                <a:latin typeface="Calibri" pitchFamily="34" charset="0"/>
                <a:ea typeface="Calibri" pitchFamily="34" charset="-122"/>
                <a:cs typeface="Calibri" pitchFamily="34" charset="-120"/>
              </a:rPr>
              <a:t>📌  Insight: Jim has the highest average call duration at 84.91 minutes, followed closely by Dan at 83.97 min. Stewart has the lowest at 74.93 min. Longer duration may indicate thoroughness or complexity — cross-referencing with CSAT and resolution rates is recommended to get the full picture.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Text 1"/>
          <p:cNvSpPr/>
          <p:nvPr/>
        </p:nvSpPr>
        <p:spPr>
          <a:xfrm>
            <a:off x="457200" y="731520"/>
            <a:ext cx="2743200" cy="1371600"/>
          </a:xfrm>
          <a:prstGeom prst="rect">
            <a:avLst/>
          </a:prstGeom>
          <a:noFill/>
          <a:ln/>
        </p:spPr>
        <p:txBody>
          <a:bodyPr wrap="square" lIns="0" tIns="0" rIns="0" bIns="0" rtlCol="0" anchor="ctr"/>
          <a:lstStyle/>
          <a:p>
            <a:pPr indent="0" marL="0">
              <a:buNone/>
            </a:pPr>
            <a:r>
              <a:rPr lang="en-US" sz="11000" b="1" dirty="0">
                <a:solidFill>
                  <a:srgbClr val="1B4F72"/>
                </a:solidFill>
                <a:latin typeface="Calibri" pitchFamily="34" charset="0"/>
                <a:ea typeface="Calibri" pitchFamily="34" charset="-122"/>
                <a:cs typeface="Calibri" pitchFamily="34" charset="-120"/>
              </a:rPr>
              <a:t>05</a:t>
            </a:r>
            <a:endParaRPr lang="en-US" sz="11000" dirty="0"/>
          </a:p>
        </p:txBody>
      </p:sp>
      <p:sp>
        <p:nvSpPr>
          <p:cNvPr id="4" name="Text 2"/>
          <p:cNvSpPr/>
          <p:nvPr/>
        </p:nvSpPr>
        <p:spPr>
          <a:xfrm>
            <a:off x="457200" y="2011680"/>
            <a:ext cx="8229600" cy="13716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CSAT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Analysis</a:t>
            </a:r>
            <a:endParaRPr lang="en-US" sz="4400" dirty="0"/>
          </a:p>
        </p:txBody>
      </p:sp>
      <p:sp>
        <p:nvSpPr>
          <p:cNvPr id="5" name="Text 3"/>
          <p:cNvSpPr/>
          <p:nvPr/>
        </p:nvSpPr>
        <p:spPr>
          <a:xfrm>
            <a:off x="457200" y="3429000"/>
            <a:ext cx="8229600" cy="457200"/>
          </a:xfrm>
          <a:prstGeom prst="rect">
            <a:avLst/>
          </a:prstGeom>
          <a:noFill/>
          <a:ln/>
        </p:spPr>
        <p:txBody>
          <a:bodyPr wrap="square" lIns="0" tIns="0" rIns="0" bIns="0" rtlCol="0" anchor="ctr"/>
          <a:lstStyle/>
          <a:p>
            <a:pPr indent="0" marL="0">
              <a:buNone/>
            </a:pPr>
            <a:r>
              <a:rPr lang="en-US" sz="1600" dirty="0">
                <a:solidFill>
                  <a:srgbClr val="88AABB"/>
                </a:solidFill>
                <a:latin typeface="Calibri" pitchFamily="34" charset="0"/>
                <a:ea typeface="Calibri" pitchFamily="34" charset="-122"/>
                <a:cs typeface="Calibri" pitchFamily="34" charset="-120"/>
              </a:rPr>
              <a:t>Customer Satisfaction Score  ·  Q1 2021</a:t>
            </a:r>
            <a:endParaRPr lang="en-US" sz="1600" dirty="0"/>
          </a:p>
        </p:txBody>
      </p:sp>
      <p:sp>
        <p:nvSpPr>
          <p:cNvPr id="6" name="Shape 4"/>
          <p:cNvSpPr/>
          <p:nvPr/>
        </p:nvSpPr>
        <p:spPr>
          <a:xfrm>
            <a:off x="5943600" y="914400"/>
            <a:ext cx="2743200" cy="2743200"/>
          </a:xfrm>
          <a:prstGeom prst="ellipse">
            <a:avLst/>
          </a:prstGeom>
          <a:solidFill>
            <a:srgbClr val="1A7FA1">
              <a:alpha val="90000"/>
            </a:srgbClr>
          </a:solidFill>
          <a:ln w="38100">
            <a:solidFill>
              <a:srgbClr val="F5A623"/>
            </a:solidFill>
            <a:prstDash val="solid"/>
          </a:ln>
        </p:spPr>
      </p:sp>
      <p:sp>
        <p:nvSpPr>
          <p:cNvPr id="7" name="Text 5"/>
          <p:cNvSpPr/>
          <p:nvPr/>
        </p:nvSpPr>
        <p:spPr>
          <a:xfrm>
            <a:off x="5943600" y="1645920"/>
            <a:ext cx="2743200"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49.90%</a:t>
            </a:r>
            <a:endParaRPr lang="en-US" sz="3200" dirty="0"/>
          </a:p>
        </p:txBody>
      </p:sp>
      <p:sp>
        <p:nvSpPr>
          <p:cNvPr id="8" name="Text 6"/>
          <p:cNvSpPr/>
          <p:nvPr/>
        </p:nvSpPr>
        <p:spPr>
          <a:xfrm>
            <a:off x="5943600" y="2514600"/>
            <a:ext cx="2743200" cy="365760"/>
          </a:xfrm>
          <a:prstGeom prst="rect">
            <a:avLst/>
          </a:prstGeom>
          <a:noFill/>
          <a:ln/>
        </p:spPr>
        <p:txBody>
          <a:bodyPr wrap="square" rtlCol="0" anchor="ctr"/>
          <a:lstStyle/>
          <a:p>
            <a:pPr algn="ctr" indent="0" marL="0">
              <a:buNone/>
            </a:pPr>
            <a:r>
              <a:rPr lang="en-US" sz="1200" dirty="0">
                <a:solidFill>
                  <a:srgbClr val="F5A623"/>
                </a:solidFill>
                <a:latin typeface="Calibri" pitchFamily="34" charset="0"/>
                <a:ea typeface="Calibri" pitchFamily="34" charset="-122"/>
                <a:cs typeface="Calibri" pitchFamily="34" charset="-120"/>
              </a:rPr>
              <a:t>Overall CSAT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05  |  CSAT % by Agent</a:t>
            </a:r>
            <a:endParaRPr lang="en-US" sz="1800" dirty="0"/>
          </a:p>
        </p:txBody>
      </p:sp>
      <p:graphicFrame>
        <p:nvGraphicFramePr>
          <p:cNvPr id="4" name="Chart 0" descr=""/>
          <p:cNvGraphicFramePr/>
          <p:nvPr/>
        </p:nvGraphicFramePr>
        <p:xfrm>
          <a:off x="274320" y="804672"/>
          <a:ext cx="539496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943600" y="822960"/>
            <a:ext cx="2926080" cy="292608"/>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Agent Ranking</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0" y="1170432"/>
          <a:ext cx="2926080" cy="2834640"/>
        </p:xfrm>
        <a:graphic>
          <a:graphicData uri="http://schemas.openxmlformats.org/drawingml/2006/table">
            <a:tbl>
              <a:tblPr/>
              <a:tblGrid>
                <a:gridCol w="640080"/>
                <a:gridCol w="1371600"/>
                <a:gridCol w="868680"/>
              </a:tblGrid>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1st 🥇</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Martha</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7AE60"/>
                          </a:solidFill>
                          <a:latin typeface="Calibri" pitchFamily="34" charset="0"/>
                          <a:ea typeface="Calibri" pitchFamily="34" charset="-122"/>
                          <a:cs typeface="Calibri" pitchFamily="34" charset="-120"/>
                        </a:rPr>
                        <a:t>52.72%</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2nd 🥈</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Stewart</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7AE60"/>
                          </a:solidFill>
                          <a:latin typeface="Calibri" pitchFamily="34" charset="0"/>
                          <a:ea typeface="Calibri" pitchFamily="34" charset="-122"/>
                          <a:cs typeface="Calibri" pitchFamily="34" charset="-120"/>
                        </a:rPr>
                        <a:t>51.36%</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3rd 🥉</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Becky</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27AE60"/>
                          </a:solidFill>
                          <a:latin typeface="Calibri" pitchFamily="34" charset="0"/>
                          <a:ea typeface="Calibri" pitchFamily="34" charset="-122"/>
                          <a:cs typeface="Calibri" pitchFamily="34" charset="-120"/>
                        </a:rPr>
                        <a:t>50.48%</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4th</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Jim</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7FA1"/>
                          </a:solidFill>
                          <a:latin typeface="Calibri" pitchFamily="34" charset="0"/>
                          <a:ea typeface="Calibri" pitchFamily="34" charset="-122"/>
                          <a:cs typeface="Calibri" pitchFamily="34" charset="-120"/>
                        </a:rPr>
                        <a:t>50.00%</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5th</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Dan</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7FA1"/>
                          </a:solidFill>
                          <a:latin typeface="Calibri" pitchFamily="34" charset="0"/>
                          <a:ea typeface="Calibri" pitchFamily="34" charset="-122"/>
                          <a:cs typeface="Calibri" pitchFamily="34" charset="-120"/>
                        </a:rPr>
                        <a:t>49.90%</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6th</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Diane</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A7FA1"/>
                          </a:solidFill>
                          <a:latin typeface="Calibri" pitchFamily="34" charset="0"/>
                          <a:ea typeface="Calibri" pitchFamily="34" charset="-122"/>
                          <a:cs typeface="Calibri" pitchFamily="34" charset="-120"/>
                        </a:rPr>
                        <a:t>49.10%</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7th</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Greg</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74C3C"/>
                          </a:solidFill>
                          <a:latin typeface="Calibri" pitchFamily="34" charset="0"/>
                          <a:ea typeface="Calibri" pitchFamily="34" charset="-122"/>
                          <a:cs typeface="Calibri" pitchFamily="34" charset="-120"/>
                        </a:rPr>
                        <a:t>48.01%</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r h="329184">
                <a:tc>
                  <a:txBody>
                    <a:bodyPr/>
                    <a:lstStyle/>
                    <a:p>
                      <a:pPr algn="ctr" indent="0" marL="0">
                        <a:buNone/>
                      </a:pPr>
                      <a:r>
                        <a:rPr lang="en-US" sz="950" dirty="0">
                          <a:solidFill>
                            <a:srgbClr val="7F8C8D"/>
                          </a:solidFill>
                          <a:latin typeface="Calibri" pitchFamily="34" charset="0"/>
                          <a:ea typeface="Calibri" pitchFamily="34" charset="-122"/>
                          <a:cs typeface="Calibri" pitchFamily="34" charset="-120"/>
                        </a:rPr>
                        <a:t>8th</a:t>
                      </a:r>
                      <a:endParaRPr lang="en-US" sz="95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indent="0" marL="0">
                        <a:buNone/>
                      </a:pPr>
                      <a:r>
                        <a:rPr lang="en-US" sz="1000" b="1" dirty="0">
                          <a:solidFill>
                            <a:srgbClr val="0D1F3C"/>
                          </a:solidFill>
                          <a:latin typeface="Calibri" pitchFamily="34" charset="0"/>
                          <a:ea typeface="Calibri" pitchFamily="34" charset="-122"/>
                          <a:cs typeface="Calibri" pitchFamily="34" charset="-120"/>
                        </a:rPr>
                        <a:t>Joe</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E74C3C"/>
                          </a:solidFill>
                          <a:latin typeface="Calibri" pitchFamily="34" charset="0"/>
                          <a:ea typeface="Calibri" pitchFamily="34" charset="-122"/>
                          <a:cs typeface="Calibri" pitchFamily="34" charset="-120"/>
                        </a:rPr>
                        <a:t>47.52%</a:t>
                      </a:r>
                      <a:endParaRPr lang="en-US" sz="1000" dirty="0">
                        <a:latin typeface="Calibri" charset="0"/>
                        <a:ea typeface="Calibri" charset="0"/>
                        <a:cs typeface="Calibri" charset="0"/>
                      </a:endParaRPr>
                    </a:p>
                  </a:txBody>
                  <a:tcPr marL="91440" marR="91440" marT="45720" marB="45720">
                    <a:lnL w="6350" cap="flat" cmpd="sng" algn="ctr">
                      <a:solidFill>
                        <a:srgbClr val="E0E8F0"/>
                      </a:solidFill>
                      <a:prstDash val="solid"/>
                      <a:round/>
                      <a:headEnd type="none" w="med" len="med"/>
                      <a:tailEnd type="none" w="med" len="med"/>
                    </a:lnL>
                    <a:lnR w="6350" cap="flat" cmpd="sng" algn="ctr">
                      <a:solidFill>
                        <a:srgbClr val="E0E8F0"/>
                      </a:solidFill>
                      <a:prstDash val="solid"/>
                      <a:round/>
                      <a:headEnd type="none" w="med" len="med"/>
                      <a:tailEnd type="none" w="med" len="med"/>
                    </a:lnR>
                    <a:lnT w="6350" cap="flat" cmpd="sng" algn="ctr">
                      <a:solidFill>
                        <a:srgbClr val="E0E8F0"/>
                      </a:solidFill>
                      <a:prstDash val="solid"/>
                      <a:round/>
                      <a:headEnd type="none" w="med" len="med"/>
                      <a:tailEnd type="none" w="med" len="med"/>
                    </a:lnT>
                    <a:lnB w="6350" cap="flat" cmpd="sng" algn="ctr">
                      <a:solidFill>
                        <a:srgbClr val="E0E8F0"/>
                      </a:solidFill>
                      <a:prstDash val="solid"/>
                      <a:round/>
                      <a:headEnd type="none" w="med" len="med"/>
                      <a:tailEnd type="none" w="med" len="med"/>
                    </a:lnB>
                    <a:solidFill>
                      <a:srgbClr val="FFFFFF"/>
                    </a:solidFill>
                  </a:tcPr>
                </a:tc>
              </a:tr>
            </a:tbl>
          </a:graphicData>
        </a:graphic>
      </p:graphicFrame>
      <p:sp>
        <p:nvSpPr>
          <p:cNvPr id="7" name="Shape 3"/>
          <p:cNvSpPr/>
          <p:nvPr/>
        </p:nvSpPr>
        <p:spPr>
          <a:xfrm>
            <a:off x="274320" y="4114800"/>
            <a:ext cx="8595360" cy="731520"/>
          </a:xfrm>
          <a:prstGeom prst="rect">
            <a:avLst/>
          </a:prstGeom>
          <a:solidFill>
            <a:srgbClr val="D6EAF8"/>
          </a:solidFill>
          <a:ln w="12700">
            <a:solidFill>
              <a:srgbClr val="C5D9EC"/>
            </a:solidFill>
            <a:prstDash val="solid"/>
          </a:ln>
        </p:spPr>
      </p:sp>
      <p:sp>
        <p:nvSpPr>
          <p:cNvPr id="8" name="Text 4"/>
          <p:cNvSpPr/>
          <p:nvPr/>
        </p:nvSpPr>
        <p:spPr>
          <a:xfrm>
            <a:off x="457200" y="4160520"/>
            <a:ext cx="8321040" cy="658368"/>
          </a:xfrm>
          <a:prstGeom prst="rect">
            <a:avLst/>
          </a:prstGeom>
          <a:noFill/>
          <a:ln/>
        </p:spPr>
        <p:txBody>
          <a:bodyPr wrap="square" rtlCol="0" anchor="ctr"/>
          <a:lstStyle/>
          <a:p>
            <a:pPr indent="0" marL="0">
              <a:buNone/>
            </a:pPr>
            <a:r>
              <a:rPr lang="en-US" sz="1000" dirty="0">
                <a:solidFill>
                  <a:srgbClr val="1C2833"/>
                </a:solidFill>
                <a:latin typeface="Calibri" pitchFamily="34" charset="0"/>
                <a:ea typeface="Calibri" pitchFamily="34" charset="-122"/>
                <a:cs typeface="Calibri" pitchFamily="34" charset="-120"/>
              </a:rPr>
              <a:t>📌  Gap of 5.2 percentage points exists between top agent (Martha: 52.72%) and bottom agent (Joe: 47.52%). Targeted coaching for lower-ranked agents can close this gap and lift overall CSAT.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05  |  CSAT % by Month &amp; Topic Distribution</a:t>
            </a:r>
            <a:endParaRPr lang="en-US" sz="1800" dirty="0"/>
          </a:p>
        </p:txBody>
      </p:sp>
      <p:graphicFrame>
        <p:nvGraphicFramePr>
          <p:cNvPr id="4" name="Chart 0" descr=""/>
          <p:cNvGraphicFramePr/>
          <p:nvPr/>
        </p:nvGraphicFramePr>
        <p:xfrm>
          <a:off x="274320" y="804672"/>
          <a:ext cx="4389120" cy="26517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846320" y="804672"/>
          <a:ext cx="4023360" cy="265176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274320" y="3611880"/>
            <a:ext cx="251460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7" name="Shape 3"/>
          <p:cNvSpPr/>
          <p:nvPr/>
        </p:nvSpPr>
        <p:spPr>
          <a:xfrm>
            <a:off x="274320" y="3611880"/>
            <a:ext cx="64008" cy="1234440"/>
          </a:xfrm>
          <a:prstGeom prst="rect">
            <a:avLst/>
          </a:prstGeom>
          <a:solidFill>
            <a:srgbClr val="1A7FA1"/>
          </a:solidFill>
          <a:ln w="12700">
            <a:solidFill>
              <a:srgbClr val="1A7FA1"/>
            </a:solidFill>
            <a:prstDash val="solid"/>
          </a:ln>
        </p:spPr>
      </p:sp>
      <p:sp>
        <p:nvSpPr>
          <p:cNvPr id="8" name="Text 4"/>
          <p:cNvSpPr/>
          <p:nvPr/>
        </p:nvSpPr>
        <p:spPr>
          <a:xfrm>
            <a:off x="384048" y="3657600"/>
            <a:ext cx="2286000" cy="502920"/>
          </a:xfrm>
          <a:prstGeom prst="rect">
            <a:avLst/>
          </a:prstGeom>
          <a:noFill/>
          <a:ln/>
        </p:spPr>
        <p:txBody>
          <a:bodyPr wrap="square" rtlCol="0" anchor="ctr"/>
          <a:lstStyle/>
          <a:p>
            <a:pPr algn="ctr" indent="0" marL="0">
              <a:buNone/>
            </a:pPr>
            <a:r>
              <a:rPr lang="en-US" sz="2200" b="1" dirty="0">
                <a:solidFill>
                  <a:srgbClr val="1A7FA1"/>
                </a:solidFill>
                <a:latin typeface="Calibri" pitchFamily="34" charset="0"/>
                <a:ea typeface="Calibri" pitchFamily="34" charset="-122"/>
                <a:cs typeface="Calibri" pitchFamily="34" charset="-120"/>
              </a:rPr>
              <a:t>50.24%</a:t>
            </a:r>
            <a:endParaRPr lang="en-US" sz="2200" dirty="0"/>
          </a:p>
        </p:txBody>
      </p:sp>
      <p:sp>
        <p:nvSpPr>
          <p:cNvPr id="9" name="Text 5"/>
          <p:cNvSpPr/>
          <p:nvPr/>
        </p:nvSpPr>
        <p:spPr>
          <a:xfrm>
            <a:off x="384048" y="4133088"/>
            <a:ext cx="2286000" cy="256032"/>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January</a:t>
            </a:r>
            <a:endParaRPr lang="en-US" sz="1100" dirty="0"/>
          </a:p>
        </p:txBody>
      </p:sp>
      <p:sp>
        <p:nvSpPr>
          <p:cNvPr id="10" name="Text 6"/>
          <p:cNvSpPr/>
          <p:nvPr/>
        </p:nvSpPr>
        <p:spPr>
          <a:xfrm>
            <a:off x="384048" y="4389120"/>
            <a:ext cx="2286000" cy="228600"/>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1,455 survey responses</a:t>
            </a:r>
            <a:endParaRPr lang="en-US" sz="900" dirty="0"/>
          </a:p>
        </p:txBody>
      </p:sp>
      <p:sp>
        <p:nvSpPr>
          <p:cNvPr id="11" name="Shape 7"/>
          <p:cNvSpPr/>
          <p:nvPr/>
        </p:nvSpPr>
        <p:spPr>
          <a:xfrm>
            <a:off x="3108960" y="3611880"/>
            <a:ext cx="251460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2" name="Shape 8"/>
          <p:cNvSpPr/>
          <p:nvPr/>
        </p:nvSpPr>
        <p:spPr>
          <a:xfrm>
            <a:off x="3108960" y="3611880"/>
            <a:ext cx="64008" cy="1234440"/>
          </a:xfrm>
          <a:prstGeom prst="rect">
            <a:avLst/>
          </a:prstGeom>
          <a:solidFill>
            <a:srgbClr val="E74C3C"/>
          </a:solidFill>
          <a:ln w="12700">
            <a:solidFill>
              <a:srgbClr val="E74C3C"/>
            </a:solidFill>
            <a:prstDash val="solid"/>
          </a:ln>
        </p:spPr>
      </p:sp>
      <p:sp>
        <p:nvSpPr>
          <p:cNvPr id="13" name="Text 9"/>
          <p:cNvSpPr/>
          <p:nvPr/>
        </p:nvSpPr>
        <p:spPr>
          <a:xfrm>
            <a:off x="3218688" y="3657600"/>
            <a:ext cx="2286000" cy="502920"/>
          </a:xfrm>
          <a:prstGeom prst="rect">
            <a:avLst/>
          </a:prstGeom>
          <a:noFill/>
          <a:ln/>
        </p:spPr>
        <p:txBody>
          <a:bodyPr wrap="square" rtlCol="0" anchor="ctr"/>
          <a:lstStyle/>
          <a:p>
            <a:pPr algn="ctr" indent="0" marL="0">
              <a:buNone/>
            </a:pPr>
            <a:r>
              <a:rPr lang="en-US" sz="2200" b="1" dirty="0">
                <a:solidFill>
                  <a:srgbClr val="E74C3C"/>
                </a:solidFill>
                <a:latin typeface="Calibri" pitchFamily="34" charset="0"/>
                <a:ea typeface="Calibri" pitchFamily="34" charset="-122"/>
                <a:cs typeface="Calibri" pitchFamily="34" charset="-120"/>
              </a:rPr>
              <a:t>48.89%</a:t>
            </a:r>
            <a:endParaRPr lang="en-US" sz="2200" dirty="0"/>
          </a:p>
        </p:txBody>
      </p:sp>
      <p:sp>
        <p:nvSpPr>
          <p:cNvPr id="14" name="Text 10"/>
          <p:cNvSpPr/>
          <p:nvPr/>
        </p:nvSpPr>
        <p:spPr>
          <a:xfrm>
            <a:off x="3218688" y="4133088"/>
            <a:ext cx="2286000" cy="256032"/>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February</a:t>
            </a:r>
            <a:endParaRPr lang="en-US" sz="1100" dirty="0"/>
          </a:p>
        </p:txBody>
      </p:sp>
      <p:sp>
        <p:nvSpPr>
          <p:cNvPr id="15" name="Text 11"/>
          <p:cNvSpPr/>
          <p:nvPr/>
        </p:nvSpPr>
        <p:spPr>
          <a:xfrm>
            <a:off x="3218688" y="4389120"/>
            <a:ext cx="2286000" cy="228600"/>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1,301 survey responses</a:t>
            </a:r>
            <a:endParaRPr lang="en-US" sz="900" dirty="0"/>
          </a:p>
        </p:txBody>
      </p:sp>
      <p:sp>
        <p:nvSpPr>
          <p:cNvPr id="16" name="Shape 12"/>
          <p:cNvSpPr/>
          <p:nvPr/>
        </p:nvSpPr>
        <p:spPr>
          <a:xfrm>
            <a:off x="5943600" y="3611880"/>
            <a:ext cx="251460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7" name="Shape 13"/>
          <p:cNvSpPr/>
          <p:nvPr/>
        </p:nvSpPr>
        <p:spPr>
          <a:xfrm>
            <a:off x="5943600" y="3611880"/>
            <a:ext cx="64008" cy="1234440"/>
          </a:xfrm>
          <a:prstGeom prst="rect">
            <a:avLst/>
          </a:prstGeom>
          <a:solidFill>
            <a:srgbClr val="27AE60"/>
          </a:solidFill>
          <a:ln w="12700">
            <a:solidFill>
              <a:srgbClr val="27AE60"/>
            </a:solidFill>
            <a:prstDash val="solid"/>
          </a:ln>
        </p:spPr>
      </p:sp>
      <p:sp>
        <p:nvSpPr>
          <p:cNvPr id="18" name="Text 14"/>
          <p:cNvSpPr/>
          <p:nvPr/>
        </p:nvSpPr>
        <p:spPr>
          <a:xfrm>
            <a:off x="6053328" y="3657600"/>
            <a:ext cx="2286000" cy="502920"/>
          </a:xfrm>
          <a:prstGeom prst="rect">
            <a:avLst/>
          </a:prstGeom>
          <a:noFill/>
          <a:ln/>
        </p:spPr>
        <p:txBody>
          <a:bodyPr wrap="square" rtlCol="0" anchor="ctr"/>
          <a:lstStyle/>
          <a:p>
            <a:pPr algn="ctr" indent="0" marL="0">
              <a:buNone/>
            </a:pPr>
            <a:r>
              <a:rPr lang="en-US" sz="2200" b="1" dirty="0">
                <a:solidFill>
                  <a:srgbClr val="27AE60"/>
                </a:solidFill>
                <a:latin typeface="Calibri" pitchFamily="34" charset="0"/>
                <a:ea typeface="Calibri" pitchFamily="34" charset="-122"/>
                <a:cs typeface="Calibri" pitchFamily="34" charset="-120"/>
              </a:rPr>
              <a:t>50.54%</a:t>
            </a:r>
            <a:endParaRPr lang="en-US" sz="2200" dirty="0"/>
          </a:p>
        </p:txBody>
      </p:sp>
      <p:sp>
        <p:nvSpPr>
          <p:cNvPr id="19" name="Text 15"/>
          <p:cNvSpPr/>
          <p:nvPr/>
        </p:nvSpPr>
        <p:spPr>
          <a:xfrm>
            <a:off x="6053328" y="4133088"/>
            <a:ext cx="2286000" cy="256032"/>
          </a:xfrm>
          <a:prstGeom prst="rect">
            <a:avLst/>
          </a:prstGeom>
          <a:noFill/>
          <a:ln/>
        </p:spPr>
        <p:txBody>
          <a:bodyPr wrap="square" lIns="0" tIns="0" rIns="0" bIns="0" rtlCol="0" anchor="ctr"/>
          <a:lstStyle/>
          <a:p>
            <a:pPr algn="ctr" indent="0" marL="0">
              <a:buNone/>
            </a:pPr>
            <a:r>
              <a:rPr lang="en-US" sz="1100" b="1" dirty="0">
                <a:solidFill>
                  <a:srgbClr val="0D1F3C"/>
                </a:solidFill>
                <a:latin typeface="Calibri" pitchFamily="34" charset="0"/>
                <a:ea typeface="Calibri" pitchFamily="34" charset="-122"/>
                <a:cs typeface="Calibri" pitchFamily="34" charset="-120"/>
              </a:rPr>
              <a:t>March</a:t>
            </a:r>
            <a:endParaRPr lang="en-US" sz="1100" dirty="0"/>
          </a:p>
        </p:txBody>
      </p:sp>
      <p:sp>
        <p:nvSpPr>
          <p:cNvPr id="20" name="Text 16"/>
          <p:cNvSpPr/>
          <p:nvPr/>
        </p:nvSpPr>
        <p:spPr>
          <a:xfrm>
            <a:off x="6053328" y="4389120"/>
            <a:ext cx="2286000" cy="228600"/>
          </a:xfrm>
          <a:prstGeom prst="rect">
            <a:avLst/>
          </a:prstGeom>
          <a:noFill/>
          <a:ln/>
        </p:spPr>
        <p:txBody>
          <a:bodyPr wrap="square" lIns="0" tIns="0" rIns="0" bIns="0" rtlCol="0" anchor="ctr"/>
          <a:lstStyle/>
          <a:p>
            <a:pPr algn="ctr" indent="0" marL="0">
              <a:buNone/>
            </a:pPr>
            <a:r>
              <a:rPr lang="en-US" sz="900" dirty="0">
                <a:solidFill>
                  <a:srgbClr val="7F8C8D"/>
                </a:solidFill>
                <a:latin typeface="Calibri" pitchFamily="34" charset="0"/>
                <a:ea typeface="Calibri" pitchFamily="34" charset="-122"/>
                <a:cs typeface="Calibri" pitchFamily="34" charset="-120"/>
              </a:rPr>
              <a:t>1,298 survey responses</a:t>
            </a:r>
            <a:endParaRPr lang="en-US" sz="900" dirty="0"/>
          </a:p>
        </p:txBody>
      </p:sp>
      <p:sp>
        <p:nvSpPr>
          <p:cNvPr id="21" name="Shape 17"/>
          <p:cNvSpPr/>
          <p:nvPr/>
        </p:nvSpPr>
        <p:spPr>
          <a:xfrm>
            <a:off x="8641080" y="3611880"/>
            <a:ext cx="201168" cy="0"/>
          </a:xfrm>
          <a:prstGeom prst="rect">
            <a:avLst/>
          </a:prstGeom>
          <a:solidFill>
            <a:srgbClr val="F4F7FA"/>
          </a:solidFill>
          <a:ln w="12700">
            <a:solidFill>
              <a:srgbClr val="F4F7FA"/>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F3C"/>
          </a:solidFill>
          <a:ln w="12700">
            <a:solidFill>
              <a:srgbClr val="0D1F3C"/>
            </a:solidFill>
            <a:prstDash val="solid"/>
          </a:ln>
        </p:spPr>
      </p:sp>
      <p:sp>
        <p:nvSpPr>
          <p:cNvPr id="3" name="Text 1"/>
          <p:cNvSpPr/>
          <p:nvPr/>
        </p:nvSpPr>
        <p:spPr>
          <a:xfrm>
            <a:off x="365760" y="0"/>
            <a:ext cx="8229600" cy="68580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06  |  Key Insights &amp; Recommendations</a:t>
            </a:r>
            <a:endParaRPr lang="en-US" sz="1800" dirty="0"/>
          </a:p>
        </p:txBody>
      </p:sp>
      <p:sp>
        <p:nvSpPr>
          <p:cNvPr id="4" name="Shape 2"/>
          <p:cNvSpPr/>
          <p:nvPr/>
        </p:nvSpPr>
        <p:spPr>
          <a:xfrm>
            <a:off x="274320" y="8229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274320" y="822960"/>
            <a:ext cx="64008" cy="1234440"/>
          </a:xfrm>
          <a:prstGeom prst="rect">
            <a:avLst/>
          </a:prstGeom>
          <a:solidFill>
            <a:srgbClr val="1A7FA1"/>
          </a:solidFill>
          <a:ln w="12700">
            <a:solidFill>
              <a:srgbClr val="1A7FA1"/>
            </a:solidFill>
            <a:prstDash val="solid"/>
          </a:ln>
        </p:spPr>
      </p:sp>
      <p:sp>
        <p:nvSpPr>
          <p:cNvPr id="6" name="Text 4"/>
          <p:cNvSpPr/>
          <p:nvPr/>
        </p:nvSpPr>
        <p:spPr>
          <a:xfrm>
            <a:off x="438912" y="8961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Call Volume Seasonality</a:t>
            </a:r>
            <a:endParaRPr lang="en-US" sz="1200" dirty="0"/>
          </a:p>
        </p:txBody>
      </p:sp>
      <p:sp>
        <p:nvSpPr>
          <p:cNvPr id="7" name="Text 5"/>
          <p:cNvSpPr/>
          <p:nvPr/>
        </p:nvSpPr>
        <p:spPr>
          <a:xfrm>
            <a:off x="438912" y="12252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January peaks at 1,772 calls. Ensure adequate staffing in Q2 early months to handle similar surges.</a:t>
            </a:r>
            <a:endParaRPr lang="en-US" sz="1000" dirty="0"/>
          </a:p>
        </p:txBody>
      </p:sp>
      <p:sp>
        <p:nvSpPr>
          <p:cNvPr id="8" name="Shape 6"/>
          <p:cNvSpPr/>
          <p:nvPr/>
        </p:nvSpPr>
        <p:spPr>
          <a:xfrm>
            <a:off x="274320" y="21945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274320" y="2194560"/>
            <a:ext cx="64008" cy="1234440"/>
          </a:xfrm>
          <a:prstGeom prst="rect">
            <a:avLst/>
          </a:prstGeom>
          <a:solidFill>
            <a:srgbClr val="27AE60"/>
          </a:solidFill>
          <a:ln w="12700">
            <a:solidFill>
              <a:srgbClr val="27AE60"/>
            </a:solidFill>
            <a:prstDash val="solid"/>
          </a:ln>
        </p:spPr>
      </p:sp>
      <p:sp>
        <p:nvSpPr>
          <p:cNvPr id="10" name="Text 8"/>
          <p:cNvSpPr/>
          <p:nvPr/>
        </p:nvSpPr>
        <p:spPr>
          <a:xfrm>
            <a:off x="438912" y="22677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Strong Resolution Rate</a:t>
            </a:r>
            <a:endParaRPr lang="en-US" sz="1200" dirty="0"/>
          </a:p>
        </p:txBody>
      </p:sp>
      <p:sp>
        <p:nvSpPr>
          <p:cNvPr id="11" name="Text 9"/>
          <p:cNvSpPr/>
          <p:nvPr/>
        </p:nvSpPr>
        <p:spPr>
          <a:xfrm>
            <a:off x="438912" y="25968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72.92% resolution rate is a solid baseline. Focus on reducing the 27.08% unresolved calls through better escalation paths.</a:t>
            </a:r>
            <a:endParaRPr lang="en-US" sz="1000" dirty="0"/>
          </a:p>
        </p:txBody>
      </p:sp>
      <p:sp>
        <p:nvSpPr>
          <p:cNvPr id="12" name="Shape 10"/>
          <p:cNvSpPr/>
          <p:nvPr/>
        </p:nvSpPr>
        <p:spPr>
          <a:xfrm>
            <a:off x="274320" y="35661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3" name="Shape 11"/>
          <p:cNvSpPr/>
          <p:nvPr/>
        </p:nvSpPr>
        <p:spPr>
          <a:xfrm>
            <a:off x="274320" y="3566160"/>
            <a:ext cx="64008" cy="1234440"/>
          </a:xfrm>
          <a:prstGeom prst="rect">
            <a:avLst/>
          </a:prstGeom>
          <a:solidFill>
            <a:srgbClr val="F5A623"/>
          </a:solidFill>
          <a:ln w="12700">
            <a:solidFill>
              <a:srgbClr val="F5A623"/>
            </a:solidFill>
            <a:prstDash val="solid"/>
          </a:ln>
        </p:spPr>
      </p:sp>
      <p:sp>
        <p:nvSpPr>
          <p:cNvPr id="14" name="Text 12"/>
          <p:cNvSpPr/>
          <p:nvPr/>
        </p:nvSpPr>
        <p:spPr>
          <a:xfrm>
            <a:off x="438912" y="36393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CSAT Gap Opportunity</a:t>
            </a:r>
            <a:endParaRPr lang="en-US" sz="1200" dirty="0"/>
          </a:p>
        </p:txBody>
      </p:sp>
      <p:sp>
        <p:nvSpPr>
          <p:cNvPr id="15" name="Text 13"/>
          <p:cNvSpPr/>
          <p:nvPr/>
        </p:nvSpPr>
        <p:spPr>
          <a:xfrm>
            <a:off x="438912" y="39684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Martha leads at 52.72% vs Joe at 47.52% — a 5.2% gap. Peer coaching and best-practice sharing can lift all agents.</a:t>
            </a:r>
            <a:endParaRPr lang="en-US" sz="1000" dirty="0"/>
          </a:p>
        </p:txBody>
      </p:sp>
      <p:sp>
        <p:nvSpPr>
          <p:cNvPr id="16" name="Shape 14"/>
          <p:cNvSpPr/>
          <p:nvPr/>
        </p:nvSpPr>
        <p:spPr>
          <a:xfrm>
            <a:off x="4754880" y="8229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754880" y="822960"/>
            <a:ext cx="64008" cy="1234440"/>
          </a:xfrm>
          <a:prstGeom prst="rect">
            <a:avLst/>
          </a:prstGeom>
          <a:solidFill>
            <a:srgbClr val="E74C3C"/>
          </a:solidFill>
          <a:ln w="12700">
            <a:solidFill>
              <a:srgbClr val="E74C3C"/>
            </a:solidFill>
            <a:prstDash val="solid"/>
          </a:ln>
        </p:spPr>
      </p:sp>
      <p:sp>
        <p:nvSpPr>
          <p:cNvPr id="18" name="Text 16"/>
          <p:cNvSpPr/>
          <p:nvPr/>
        </p:nvSpPr>
        <p:spPr>
          <a:xfrm>
            <a:off x="4919472" y="8961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February CSAT Dip</a:t>
            </a:r>
            <a:endParaRPr lang="en-US" sz="1200" dirty="0"/>
          </a:p>
        </p:txBody>
      </p:sp>
      <p:sp>
        <p:nvSpPr>
          <p:cNvPr id="19" name="Text 17"/>
          <p:cNvSpPr/>
          <p:nvPr/>
        </p:nvSpPr>
        <p:spPr>
          <a:xfrm>
            <a:off x="4919472" y="12252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February recorded the lowest CSAT at 48.89%. Investigate whether staffing levels, ticket complexity, or external factors contributed.</a:t>
            </a:r>
            <a:endParaRPr lang="en-US" sz="1000" dirty="0"/>
          </a:p>
        </p:txBody>
      </p:sp>
      <p:sp>
        <p:nvSpPr>
          <p:cNvPr id="20" name="Shape 18"/>
          <p:cNvSpPr/>
          <p:nvPr/>
        </p:nvSpPr>
        <p:spPr>
          <a:xfrm>
            <a:off x="4754880" y="21945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1" name="Shape 19"/>
          <p:cNvSpPr/>
          <p:nvPr/>
        </p:nvSpPr>
        <p:spPr>
          <a:xfrm>
            <a:off x="4754880" y="2194560"/>
            <a:ext cx="64008" cy="1234440"/>
          </a:xfrm>
          <a:prstGeom prst="rect">
            <a:avLst/>
          </a:prstGeom>
          <a:solidFill>
            <a:srgbClr val="1B4F72"/>
          </a:solidFill>
          <a:ln w="12700">
            <a:solidFill>
              <a:srgbClr val="1B4F72"/>
            </a:solidFill>
            <a:prstDash val="solid"/>
          </a:ln>
        </p:spPr>
      </p:sp>
      <p:sp>
        <p:nvSpPr>
          <p:cNvPr id="22" name="Text 20"/>
          <p:cNvSpPr/>
          <p:nvPr/>
        </p:nvSpPr>
        <p:spPr>
          <a:xfrm>
            <a:off x="4919472" y="22677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Streaming Is Top Driver</a:t>
            </a:r>
            <a:endParaRPr lang="en-US" sz="1200" dirty="0"/>
          </a:p>
        </p:txBody>
      </p:sp>
      <p:sp>
        <p:nvSpPr>
          <p:cNvPr id="23" name="Text 21"/>
          <p:cNvSpPr/>
          <p:nvPr/>
        </p:nvSpPr>
        <p:spPr>
          <a:xfrm>
            <a:off x="4919472" y="25968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Streaming issues top both call volume and CSAT surveys at ~1,022 calls. A dedicated FAQ or self-service flow could deflect volume.</a:t>
            </a:r>
            <a:endParaRPr lang="en-US" sz="1000" dirty="0"/>
          </a:p>
        </p:txBody>
      </p:sp>
      <p:sp>
        <p:nvSpPr>
          <p:cNvPr id="24" name="Shape 22"/>
          <p:cNvSpPr/>
          <p:nvPr/>
        </p:nvSpPr>
        <p:spPr>
          <a:xfrm>
            <a:off x="4754880" y="3566160"/>
            <a:ext cx="4206240" cy="1234440"/>
          </a:xfrm>
          <a:prstGeom prst="rect">
            <a:avLst/>
          </a:prstGeom>
          <a:solidFill>
            <a:srgbClr val="FFFFFF"/>
          </a:solidFill>
          <a:ln w="12700">
            <a:solidFill>
              <a:srgbClr val="E0E8F0"/>
            </a:solidFill>
            <a:prstDash val="solid"/>
          </a:ln>
          <a:effectLst>
            <a:outerShdw sx="100000" sy="100000" kx="0" ky="0" algn="bl" rotWithShape="0" blurRad="101600" dist="38100" dir="8100000">
              <a:srgbClr val="000000">
                <a:alpha val="12000"/>
              </a:srgbClr>
            </a:outerShdw>
          </a:effectLst>
        </p:spPr>
      </p:sp>
      <p:sp>
        <p:nvSpPr>
          <p:cNvPr id="25" name="Shape 23"/>
          <p:cNvSpPr/>
          <p:nvPr/>
        </p:nvSpPr>
        <p:spPr>
          <a:xfrm>
            <a:off x="4754880" y="3566160"/>
            <a:ext cx="64008" cy="1234440"/>
          </a:xfrm>
          <a:prstGeom prst="rect">
            <a:avLst/>
          </a:prstGeom>
          <a:solidFill>
            <a:srgbClr val="8E44AD"/>
          </a:solidFill>
          <a:ln w="12700">
            <a:solidFill>
              <a:srgbClr val="8E44AD"/>
            </a:solidFill>
            <a:prstDash val="solid"/>
          </a:ln>
        </p:spPr>
      </p:sp>
      <p:sp>
        <p:nvSpPr>
          <p:cNvPr id="26" name="Text 24"/>
          <p:cNvSpPr/>
          <p:nvPr/>
        </p:nvSpPr>
        <p:spPr>
          <a:xfrm>
            <a:off x="4919472" y="3639312"/>
            <a:ext cx="3840480" cy="347472"/>
          </a:xfrm>
          <a:prstGeom prst="rect">
            <a:avLst/>
          </a:prstGeom>
          <a:noFill/>
          <a:ln/>
        </p:spPr>
        <p:txBody>
          <a:bodyPr wrap="square" lIns="0" tIns="0" rIns="0" bIns="0" rtlCol="0" anchor="ctr"/>
          <a:lstStyle/>
          <a:p>
            <a:pPr indent="0" marL="0">
              <a:buNone/>
            </a:pPr>
            <a:r>
              <a:rPr lang="en-US" sz="1200" b="1" dirty="0">
                <a:solidFill>
                  <a:srgbClr val="0D1F3C"/>
                </a:solidFill>
                <a:latin typeface="Calibri" pitchFamily="34" charset="0"/>
                <a:ea typeface="Calibri" pitchFamily="34" charset="-122"/>
                <a:cs typeface="Calibri" pitchFamily="34" charset="-120"/>
              </a:rPr>
              <a:t>🏆  Recognize Top Performers</a:t>
            </a:r>
            <a:endParaRPr lang="en-US" sz="1200" dirty="0"/>
          </a:p>
        </p:txBody>
      </p:sp>
      <p:sp>
        <p:nvSpPr>
          <p:cNvPr id="27" name="Text 25"/>
          <p:cNvSpPr/>
          <p:nvPr/>
        </p:nvSpPr>
        <p:spPr>
          <a:xfrm>
            <a:off x="4919472" y="3968496"/>
            <a:ext cx="3840480" cy="749808"/>
          </a:xfrm>
          <a:prstGeom prst="rect">
            <a:avLst/>
          </a:prstGeom>
          <a:noFill/>
          <a:ln/>
        </p:spPr>
        <p:txBody>
          <a:bodyPr wrap="square" lIns="0" tIns="0" rIns="0" bIns="0" rtlCol="0" anchor="ctr"/>
          <a:lstStyle/>
          <a:p>
            <a:pPr indent="0" marL="0">
              <a:buNone/>
            </a:pPr>
            <a:r>
              <a:rPr lang="en-US" sz="1000" dirty="0">
                <a:solidFill>
                  <a:srgbClr val="1C2833"/>
                </a:solidFill>
                <a:latin typeface="Calibri" pitchFamily="34" charset="0"/>
                <a:ea typeface="Calibri" pitchFamily="34" charset="-122"/>
                <a:cs typeface="Calibri" pitchFamily="34" charset="-120"/>
              </a:rPr>
              <a:t>Martha and Stewart consistently lead in CSAT. Recognition programs can retain talent and motivate mid-tier agents.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w="12700">
            <a:solidFill>
              <a:srgbClr val="F5A623"/>
            </a:solidFill>
            <a:prstDash val="solid"/>
          </a:ln>
        </p:spPr>
      </p:sp>
      <p:sp>
        <p:nvSpPr>
          <p:cNvPr id="3" name="Shape 1"/>
          <p:cNvSpPr/>
          <p:nvPr/>
        </p:nvSpPr>
        <p:spPr>
          <a:xfrm>
            <a:off x="164592" y="5079492"/>
            <a:ext cx="8979408" cy="64008"/>
          </a:xfrm>
          <a:prstGeom prst="rect">
            <a:avLst/>
          </a:prstGeom>
          <a:solidFill>
            <a:srgbClr val="F5A623"/>
          </a:solidFill>
          <a:ln w="12700">
            <a:solidFill>
              <a:srgbClr val="F5A623"/>
            </a:solidFill>
            <a:prstDash val="solid"/>
          </a:ln>
        </p:spPr>
      </p:sp>
      <p:sp>
        <p:nvSpPr>
          <p:cNvPr id="4" name="Shape 2"/>
          <p:cNvSpPr/>
          <p:nvPr/>
        </p:nvSpPr>
        <p:spPr>
          <a:xfrm>
            <a:off x="6858000" y="-457200"/>
            <a:ext cx="3200400" cy="3200400"/>
          </a:xfrm>
          <a:prstGeom prst="ellipse">
            <a:avLst/>
          </a:prstGeom>
          <a:solidFill>
            <a:srgbClr val="1A7FA1">
              <a:alpha val="15000"/>
            </a:srgbClr>
          </a:solidFill>
          <a:ln w="12700">
            <a:solidFill>
              <a:srgbClr val="1A7FA1">
                <a:alpha val="25000"/>
              </a:srgbClr>
            </a:solidFill>
            <a:prstDash val="solid"/>
          </a:ln>
        </p:spPr>
      </p:sp>
      <p:sp>
        <p:nvSpPr>
          <p:cNvPr id="5" name="Shape 3"/>
          <p:cNvSpPr/>
          <p:nvPr/>
        </p:nvSpPr>
        <p:spPr>
          <a:xfrm>
            <a:off x="7498080" y="2743200"/>
            <a:ext cx="1828800" cy="1828800"/>
          </a:xfrm>
          <a:prstGeom prst="ellipse">
            <a:avLst/>
          </a:prstGeom>
          <a:solidFill>
            <a:srgbClr val="F5A623">
              <a:alpha val="20000"/>
            </a:srgbClr>
          </a:solidFill>
          <a:ln w="12700">
            <a:solidFill>
              <a:srgbClr val="F5A623">
                <a:alpha val="30000"/>
              </a:srgbClr>
            </a:solidFill>
            <a:prstDash val="solid"/>
          </a:ln>
        </p:spPr>
      </p:sp>
      <p:sp>
        <p:nvSpPr>
          <p:cNvPr id="6" name="Text 4"/>
          <p:cNvSpPr/>
          <p:nvPr/>
        </p:nvSpPr>
        <p:spPr>
          <a:xfrm>
            <a:off x="457200" y="914400"/>
            <a:ext cx="8229600" cy="109728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7" name="Shape 5"/>
          <p:cNvSpPr/>
          <p:nvPr/>
        </p:nvSpPr>
        <p:spPr>
          <a:xfrm>
            <a:off x="457200" y="2103120"/>
            <a:ext cx="3657600" cy="45720"/>
          </a:xfrm>
          <a:prstGeom prst="rect">
            <a:avLst/>
          </a:prstGeom>
          <a:solidFill>
            <a:srgbClr val="1A7FA1"/>
          </a:solidFill>
          <a:ln w="12700">
            <a:solidFill>
              <a:srgbClr val="1A7FA1"/>
            </a:solidFill>
            <a:prstDash val="solid"/>
          </a:ln>
        </p:spPr>
      </p:sp>
      <p:sp>
        <p:nvSpPr>
          <p:cNvPr id="8" name="Text 6"/>
          <p:cNvSpPr/>
          <p:nvPr/>
        </p:nvSpPr>
        <p:spPr>
          <a:xfrm>
            <a:off x="457200" y="2286000"/>
            <a:ext cx="6400800" cy="822960"/>
          </a:xfrm>
          <a:prstGeom prst="rect">
            <a:avLst/>
          </a:prstGeom>
          <a:noFill/>
          <a:ln/>
        </p:spPr>
        <p:txBody>
          <a:bodyPr wrap="square" rtlCol="0" anchor="ctr"/>
          <a:lstStyle/>
          <a:p>
            <a:pPr algn="l" indent="0" marL="0">
              <a:buNone/>
            </a:pPr>
            <a:r>
              <a:rPr lang="en-US" sz="1600" dirty="0">
                <a:solidFill>
                  <a:srgbClr val="A0BCD0"/>
                </a:solidFill>
                <a:latin typeface="Calibri" pitchFamily="34" charset="0"/>
                <a:ea typeface="Calibri" pitchFamily="34" charset="-122"/>
                <a:cs typeface="Calibri" pitchFamily="34" charset="-120"/>
              </a:rPr>
              <a:t>Data Analysis &amp; Insights Report</a:t>
            </a:r>
            <a:endParaRPr lang="en-US" sz="1600" dirty="0"/>
          </a:p>
          <a:p>
            <a:pPr algn="l" indent="0" marL="0">
              <a:buNone/>
            </a:pPr>
            <a:r>
              <a:rPr lang="en-US" sz="1600" dirty="0">
                <a:solidFill>
                  <a:srgbClr val="A0BCD0"/>
                </a:solidFill>
                <a:latin typeface="Calibri" pitchFamily="34" charset="0"/>
                <a:ea typeface="Calibri" pitchFamily="34" charset="-122"/>
                <a:cs typeface="Calibri" pitchFamily="34" charset="-120"/>
              </a:rPr>
              <a:t>Call Center Performance · Q1 2021</a:t>
            </a:r>
            <a:endParaRPr lang="en-US" sz="1600" dirty="0"/>
          </a:p>
        </p:txBody>
      </p:sp>
      <p:sp>
        <p:nvSpPr>
          <p:cNvPr id="9" name="Text 7"/>
          <p:cNvSpPr/>
          <p:nvPr/>
        </p:nvSpPr>
        <p:spPr>
          <a:xfrm>
            <a:off x="457200" y="3383280"/>
            <a:ext cx="6400800" cy="365760"/>
          </a:xfrm>
          <a:prstGeom prst="rect">
            <a:avLst/>
          </a:prstGeom>
          <a:noFill/>
          <a:ln/>
        </p:spPr>
        <p:txBody>
          <a:bodyPr wrap="square" lIns="0" tIns="0" rIns="0" bIns="0" rtlCol="0" anchor="ctr"/>
          <a:lstStyle/>
          <a:p>
            <a:pPr algn="l" indent="0" marL="0">
              <a:buNone/>
            </a:pPr>
            <a:r>
              <a:rPr lang="en-US" sz="1400" b="1" dirty="0">
                <a:solidFill>
                  <a:srgbClr val="F5A623"/>
                </a:solidFill>
                <a:latin typeface="Calibri" pitchFamily="34" charset="0"/>
                <a:ea typeface="Calibri" pitchFamily="34" charset="-122"/>
                <a:cs typeface="Calibri" pitchFamily="34" charset="-120"/>
              </a:rPr>
              <a:t>Prepared by:  Ramy Hasan</a:t>
            </a:r>
            <a:endParaRPr lang="en-US" sz="1400" dirty="0"/>
          </a:p>
        </p:txBody>
      </p:sp>
      <p:sp>
        <p:nvSpPr>
          <p:cNvPr id="10" name="Text 8"/>
          <p:cNvSpPr/>
          <p:nvPr/>
        </p:nvSpPr>
        <p:spPr>
          <a:xfrm>
            <a:off x="457200" y="3794760"/>
            <a:ext cx="6858000" cy="731520"/>
          </a:xfrm>
          <a:prstGeom prst="rect">
            <a:avLst/>
          </a:prstGeom>
          <a:noFill/>
          <a:ln/>
        </p:spPr>
        <p:txBody>
          <a:bodyPr wrap="square" rtlCol="0" anchor="ctr"/>
          <a:lstStyle/>
          <a:p>
            <a:pPr algn="l" indent="0" marL="0">
              <a:buNone/>
            </a:pPr>
            <a:r>
              <a:rPr lang="en-US" sz="1100" dirty="0">
                <a:solidFill>
                  <a:srgbClr val="7F9BAA"/>
                </a:solidFill>
                <a:latin typeface="Calibri" pitchFamily="34" charset="0"/>
                <a:ea typeface="Calibri" pitchFamily="34" charset="-122"/>
                <a:cs typeface="Calibri" pitchFamily="34" charset="-120"/>
              </a:rPr>
              <a:t>Data Period:  01 January 2021  –  31 March 2021</a:t>
            </a:r>
            <a:endParaRPr lang="en-US" sz="1100" dirty="0"/>
          </a:p>
          <a:p>
            <a:pPr algn="l" indent="0" marL="0">
              <a:buNone/>
            </a:pPr>
            <a:r>
              <a:rPr lang="en-US" sz="1100" dirty="0">
                <a:solidFill>
                  <a:srgbClr val="7F9BAA"/>
                </a:solidFill>
                <a:latin typeface="Calibri" pitchFamily="34" charset="0"/>
                <a:ea typeface="Calibri" pitchFamily="34" charset="-122"/>
                <a:cs typeface="Calibri" pitchFamily="34" charset="-120"/>
              </a:rPr>
              <a:t>For questions &amp; follow-up analysis, please reach out.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 Center Performance Dashboard</dc:title>
  <dc:subject>PptxGenJS Presentation</dc:subject>
  <dc:creator>Ramy Hasan</dc:creator>
  <cp:lastModifiedBy>Ramy Hasan</cp:lastModifiedBy>
  <cp:revision>1</cp:revision>
  <dcterms:created xsi:type="dcterms:W3CDTF">2026-02-21T22:23:38Z</dcterms:created>
  <dcterms:modified xsi:type="dcterms:W3CDTF">2026-02-21T22:23:38Z</dcterms:modified>
</cp:coreProperties>
</file>